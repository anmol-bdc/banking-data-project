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9" r:id="rId4"/>
  </p:sldMasterIdLst>
  <p:notesMasterIdLst>
    <p:notesMasterId r:id="rId20"/>
  </p:notesMasterIdLst>
  <p:handoutMasterIdLst>
    <p:handoutMasterId r:id="rId21"/>
  </p:handoutMasterIdLst>
  <p:sldIdLst>
    <p:sldId id="1035" r:id="rId5"/>
    <p:sldId id="954" r:id="rId6"/>
    <p:sldId id="844" r:id="rId7"/>
    <p:sldId id="1034" r:id="rId8"/>
    <p:sldId id="944" r:id="rId9"/>
    <p:sldId id="999" r:id="rId10"/>
    <p:sldId id="842" r:id="rId11"/>
    <p:sldId id="847" r:id="rId12"/>
    <p:sldId id="845" r:id="rId13"/>
    <p:sldId id="908" r:id="rId14"/>
    <p:sldId id="947" r:id="rId15"/>
    <p:sldId id="1032" r:id="rId16"/>
    <p:sldId id="843" r:id="rId17"/>
    <p:sldId id="1033" r:id="rId18"/>
    <p:sldId id="1036" r:id="rId19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191301-376F-864E-862C-8EAE238F6A4B}" name="Santini, Andréa" initials="SA" userId="S::andrea.santini@accenture.com::426b7daf-8c36-440e-b7a6-c38a65b6929f" providerId="AD"/>
  <p188:author id="{D05CA914-7DC9-60D2-8911-9AA9AEF6B948}" name="Bertorelli, Eloisa" initials="" userId="S::eloisa.bertorelli@accenture.com::80eab2e9-142e-44fc-b95d-f6911bc46a14" providerId="AD"/>
  <p188:author id="{D42CFD33-CA96-B80D-6164-A403048B4BB5}" name="Gonzalez, Clara" initials="" userId="S::clara.gonzalez@accenture.com::a94196a8-3606-4a10-9e5d-b2c315ce9acb" providerId="AD"/>
  <p188:author id="{283C7B6C-D1B7-B4D9-0F16-3E342206DE97}" name="Bernero, Bo" initials="" userId="S::bo.bernero@accenture.com::038b8381-bee1-495b-9366-6f9d3c62105f" providerId="AD"/>
  <p188:author id="{0E73D874-EBD8-68E4-2E46-117214CC62E4}" name="Robledo, Martu" initials="MR" userId="S::martin.robledo@accenture.com::11410a32-82ed-43e7-9588-dc918e484bab" providerId="AD"/>
  <p188:author id="{9DC5BE7D-D1FB-853D-A22F-DE53A4792DC5}" name="Villarreal Jiménez, Scarleth" initials="SV" userId="S::s.villarreal.jimenez@accenture.com::04f9cf1f-9ff4-43ff-8a7e-af3267bfe7da" providerId="AD"/>
  <p188:author id="{5C758582-2FC8-1A52-D5FB-B3878EDC6774}" name="Santini, Andréa; Bernero, Bo" initials="SAN" userId="Santini, Andréa; Bernero, Bo" providerId="None"/>
  <p188:author id="{75F8DC9E-226B-6C3A-0C87-181D918A683C}" name="Iudice, Luciana Inés" initials="" userId="S::luciana.ines.iudice@accenture.com::20b7ef9e-58b0-4db3-888c-a9ffac62ee13" providerId="AD"/>
  <p188:author id="{AC2D28BC-4D77-CC7A-109C-B403230212B8}" name="Walsh, Autumn" initials="WA" userId="S::autumn.walsh@accenture.com::a29a7807-03ff-4b0e-8384-a68ad42d5eb0" providerId="AD"/>
  <p188:author id="{AFC317D8-5546-59C2-C49A-3BE166EDE0E8}" name="Chan, Phoebe" initials="" userId="S::phoebe.chan@accenture.com::fcc2f6c5-7c76-487f-a6e9-3be7c83ecf8b" providerId="AD"/>
  <p188:author id="{3A29D8E7-072C-FA7B-EC56-7B47AC7CD8C7}" name="Alex-Vasey, Gregory" initials="" userId="S::gregory.vasey@accenture.com::b696857f-d849-4733-9dcf-790ccea696e3" providerId="AD"/>
  <p188:author id="{17E0CEF8-8283-8512-250C-DB1C65CC29DB}" name="Andrea Santini" initials="SAN" userId="Andrea Santin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0073"/>
    <a:srgbClr val="FFFFFF"/>
    <a:srgbClr val="450073"/>
    <a:srgbClr val="000000"/>
    <a:srgbClr val="AE29FF"/>
    <a:srgbClr val="05F2DB"/>
    <a:srgbClr val="224BFF"/>
    <a:srgbClr val="06112B"/>
    <a:srgbClr val="214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7F104-9F02-4EF1-B81F-03A75F765416}" v="6" dt="2026-07-08T11:24:38.6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94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udhury, Debshata" userId="fda7be86-961c-47d3-afca-bf51ad25ccc8" providerId="ADAL" clId="{67A93D99-3E44-492E-8394-4D848A6B9B7E}"/>
    <pc:docChg chg="modSld">
      <pc:chgData name="Choudhury, Debshata" userId="fda7be86-961c-47d3-afca-bf51ad25ccc8" providerId="ADAL" clId="{67A93D99-3E44-492E-8394-4D848A6B9B7E}" dt="2026-07-08T11:24:38.667" v="5" actId="14100"/>
      <pc:docMkLst>
        <pc:docMk/>
      </pc:docMkLst>
      <pc:sldChg chg="addSp delSp modSp">
        <pc:chgData name="Choudhury, Debshata" userId="fda7be86-961c-47d3-afca-bf51ad25ccc8" providerId="ADAL" clId="{67A93D99-3E44-492E-8394-4D848A6B9B7E}" dt="2026-07-08T11:24:38.667" v="5" actId="14100"/>
        <pc:sldMkLst>
          <pc:docMk/>
          <pc:sldMk cId="244403222" sldId="908"/>
        </pc:sldMkLst>
        <pc:picChg chg="add mod">
          <ac:chgData name="Choudhury, Debshata" userId="fda7be86-961c-47d3-afca-bf51ad25ccc8" providerId="ADAL" clId="{67A93D99-3E44-492E-8394-4D848A6B9B7E}" dt="2026-07-08T11:24:38.667" v="5" actId="14100"/>
          <ac:picMkLst>
            <pc:docMk/>
            <pc:sldMk cId="244403222" sldId="908"/>
            <ac:picMk id="2" creationId="{93CCBAE3-AD4C-E92B-29DA-0A37E30AB701}"/>
          </ac:picMkLst>
        </pc:picChg>
        <pc:picChg chg="del">
          <ac:chgData name="Choudhury, Debshata" userId="fda7be86-961c-47d3-afca-bf51ad25ccc8" providerId="ADAL" clId="{67A93D99-3E44-492E-8394-4D848A6B9B7E}" dt="2026-07-08T11:24:25.327" v="0" actId="478"/>
          <ac:picMkLst>
            <pc:docMk/>
            <pc:sldMk cId="244403222" sldId="908"/>
            <ac:picMk id="1026" creationId="{527DE886-049B-EB6F-778B-3BD463FAF3A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270080630443287"/>
          <c:y val="5.6929529067669286E-2"/>
          <c:w val="0.70461243929798389"/>
          <c:h val="0.7577037012430729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Actual Remaining</c:v>
                </c:pt>
              </c:strCache>
            </c:strRef>
          </c:tx>
          <c:spPr>
            <a:ln w="57150">
              <a:solidFill>
                <a:schemeClr val="bg2"/>
              </a:solidFill>
              <a:prstDash val="solid"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Sheet1!$B$1:$G$1</c:f>
              <c:strCache>
                <c:ptCount val="6"/>
                <c:pt idx="0">
                  <c:v>Jun 18</c:v>
                </c:pt>
                <c:pt idx="1">
                  <c:v>Jun 22</c:v>
                </c:pt>
                <c:pt idx="2">
                  <c:v>Jun 26</c:v>
                </c:pt>
                <c:pt idx="3">
                  <c:v>Jun 30</c:v>
                </c:pt>
                <c:pt idx="4">
                  <c:v>Jul 3</c:v>
                </c:pt>
                <c:pt idx="5">
                  <c:v>Jul 7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60</c:v>
                </c:pt>
                <c:pt idx="1">
                  <c:v>56</c:v>
                </c:pt>
                <c:pt idx="2">
                  <c:v>49</c:v>
                </c:pt>
                <c:pt idx="3">
                  <c:v>34</c:v>
                </c:pt>
                <c:pt idx="4">
                  <c:v>15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42-9444-B7F6-BF8695B2E60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Ideal Burndown</c:v>
                </c:pt>
              </c:strCache>
            </c:strRef>
          </c:tx>
          <c:spPr>
            <a:ln w="38100">
              <a:solidFill>
                <a:schemeClr val="bg1">
                  <a:lumMod val="85000"/>
                </a:schemeClr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Sheet1!$B$1:$G$1</c:f>
              <c:strCache>
                <c:ptCount val="6"/>
                <c:pt idx="0">
                  <c:v>Jun 18</c:v>
                </c:pt>
                <c:pt idx="1">
                  <c:v>Jun 22</c:v>
                </c:pt>
                <c:pt idx="2">
                  <c:v>Jun 26</c:v>
                </c:pt>
                <c:pt idx="3">
                  <c:v>Jun 30</c:v>
                </c:pt>
                <c:pt idx="4">
                  <c:v>Jul 3</c:v>
                </c:pt>
                <c:pt idx="5">
                  <c:v>Jul 7</c:v>
                </c:pt>
              </c:strCache>
            </c:strRef>
          </c:cat>
          <c:val>
            <c:numRef>
              <c:f>Sheet1!$B$3:$G$3</c:f>
              <c:numCache>
                <c:formatCode>General</c:formatCode>
                <c:ptCount val="6"/>
                <c:pt idx="0">
                  <c:v>60</c:v>
                </c:pt>
                <c:pt idx="1">
                  <c:v>48</c:v>
                </c:pt>
                <c:pt idx="2">
                  <c:v>36</c:v>
                </c:pt>
                <c:pt idx="3">
                  <c:v>24</c:v>
                </c:pt>
                <c:pt idx="4">
                  <c:v>12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42-9444-B7F6-BF8695B2E60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49478920"/>
        <c:axId val="549479312"/>
      </c:lineChart>
      <c:catAx>
        <c:axId val="54947892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Timeline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0" vert="horz"/>
          <a:lstStyle/>
          <a:p>
            <a: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pPr>
            <a:endParaRPr lang="en-US"/>
          </a:p>
        </c:txPr>
        <c:crossAx val="54947931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5494793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Story</a:t>
                </a:r>
                <a:r>
                  <a:rPr lang="en-US" baseline="0" dirty="0"/>
                  <a:t> Points</a:t>
                </a:r>
                <a:endParaRPr lang="en-US" dirty="0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>
            <a:noFill/>
          </a:ln>
        </c:spPr>
        <c:txPr>
          <a:bodyPr rot="0" vert="horz"/>
          <a:lstStyle/>
          <a:p>
            <a: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pPr>
            <a:endParaRPr lang="en-US"/>
          </a:p>
        </c:txPr>
        <c:crossAx val="549478920"/>
        <c:crosses val="autoZero"/>
        <c:crossBetween val="midCat"/>
        <c:majorUnit val="10"/>
      </c:valAx>
      <c:spPr>
        <a:ln>
          <a:noFill/>
        </a:ln>
      </c:spPr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chemeClr val="tx2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B844C3-B28A-4505-BF58-7BBF19705FD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83CB8AA-CF36-43E7-AB09-E061B9F6E419}">
      <dgm:prSet/>
      <dgm:spPr/>
      <dgm:t>
        <a:bodyPr/>
        <a:lstStyle/>
        <a:p>
          <a:r>
            <a:rPr lang="en-US" b="0" i="0"/>
            <a:t>Enterprise banking architectures are complex and hard for new engineers to grasp.</a:t>
          </a:r>
          <a:endParaRPr lang="en-US"/>
        </a:p>
      </dgm:t>
    </dgm:pt>
    <dgm:pt modelId="{B18030C6-5125-4A8E-9050-8A2C356B2D6B}" type="parTrans" cxnId="{D435A32E-ED9B-4D55-ACF5-38A92A6E127E}">
      <dgm:prSet/>
      <dgm:spPr/>
      <dgm:t>
        <a:bodyPr/>
        <a:lstStyle/>
        <a:p>
          <a:endParaRPr lang="en-US"/>
        </a:p>
      </dgm:t>
    </dgm:pt>
    <dgm:pt modelId="{BAF9ABB0-14DE-478F-91D3-394273EA3942}" type="sibTrans" cxnId="{D435A32E-ED9B-4D55-ACF5-38A92A6E127E}">
      <dgm:prSet/>
      <dgm:spPr/>
      <dgm:t>
        <a:bodyPr/>
        <a:lstStyle/>
        <a:p>
          <a:endParaRPr lang="en-US"/>
        </a:p>
      </dgm:t>
    </dgm:pt>
    <dgm:pt modelId="{F3DA2905-2214-4486-8713-DCF5C54CDDE5}">
      <dgm:prSet/>
      <dgm:spPr/>
      <dgm:t>
        <a:bodyPr/>
        <a:lstStyle/>
        <a:p>
          <a:r>
            <a:rPr lang="en-US" b="0" i="0"/>
            <a:t>Many technologies and layers interact across the stack.</a:t>
          </a:r>
          <a:endParaRPr lang="en-US"/>
        </a:p>
      </dgm:t>
    </dgm:pt>
    <dgm:pt modelId="{805F69B5-B63E-46D7-AF41-793ECC66CE80}" type="parTrans" cxnId="{96C3C997-48EB-44DB-8275-247850691395}">
      <dgm:prSet/>
      <dgm:spPr/>
      <dgm:t>
        <a:bodyPr/>
        <a:lstStyle/>
        <a:p>
          <a:endParaRPr lang="en-US"/>
        </a:p>
      </dgm:t>
    </dgm:pt>
    <dgm:pt modelId="{D1F5D614-BDA0-49CC-AFC4-48ADB0E70B07}" type="sibTrans" cxnId="{96C3C997-48EB-44DB-8275-247850691395}">
      <dgm:prSet/>
      <dgm:spPr/>
      <dgm:t>
        <a:bodyPr/>
        <a:lstStyle/>
        <a:p>
          <a:endParaRPr lang="en-US"/>
        </a:p>
      </dgm:t>
    </dgm:pt>
    <dgm:pt modelId="{8D4F3F64-430C-4E08-A6D2-6A7E84B1F6C9}">
      <dgm:prSet/>
      <dgm:spPr/>
      <dgm:t>
        <a:bodyPr/>
        <a:lstStyle/>
        <a:p>
          <a:r>
            <a:rPr lang="en-US" b="0" i="0"/>
            <a:t>No small, safe environment exists to experiment and learn.</a:t>
          </a:r>
          <a:endParaRPr lang="en-US"/>
        </a:p>
      </dgm:t>
    </dgm:pt>
    <dgm:pt modelId="{C127BF44-F747-48DB-BF50-07CECDF92593}" type="parTrans" cxnId="{1D14B220-2244-4579-9FFF-073319FD7F3E}">
      <dgm:prSet/>
      <dgm:spPr/>
      <dgm:t>
        <a:bodyPr/>
        <a:lstStyle/>
        <a:p>
          <a:endParaRPr lang="en-US"/>
        </a:p>
      </dgm:t>
    </dgm:pt>
    <dgm:pt modelId="{81943ED9-D43D-4818-9962-2924724BD0DF}" type="sibTrans" cxnId="{1D14B220-2244-4579-9FFF-073319FD7F3E}">
      <dgm:prSet/>
      <dgm:spPr/>
      <dgm:t>
        <a:bodyPr/>
        <a:lstStyle/>
        <a:p>
          <a:endParaRPr lang="en-US"/>
        </a:p>
      </dgm:t>
    </dgm:pt>
    <dgm:pt modelId="{8C55608B-B678-4C71-B223-EBA87D5B6D8F}">
      <dgm:prSet/>
      <dgm:spPr/>
      <dgm:t>
        <a:bodyPr/>
        <a:lstStyle/>
        <a:p>
          <a:r>
            <a:rPr lang="en-US" b="0" i="0"/>
            <a:t>Teams still need analytics-ready outputs.</a:t>
          </a:r>
          <a:endParaRPr lang="en-US"/>
        </a:p>
      </dgm:t>
    </dgm:pt>
    <dgm:pt modelId="{D3CBAB88-5560-43E8-82FC-E2EE7563E42A}" type="parTrans" cxnId="{E1E312CE-A06E-4B17-80DD-A9661BF3787E}">
      <dgm:prSet/>
      <dgm:spPr/>
      <dgm:t>
        <a:bodyPr/>
        <a:lstStyle/>
        <a:p>
          <a:endParaRPr lang="en-US"/>
        </a:p>
      </dgm:t>
    </dgm:pt>
    <dgm:pt modelId="{0746356B-59E7-446E-A90A-285608560072}" type="sibTrans" cxnId="{E1E312CE-A06E-4B17-80DD-A9661BF3787E}">
      <dgm:prSet/>
      <dgm:spPr/>
      <dgm:t>
        <a:bodyPr/>
        <a:lstStyle/>
        <a:p>
          <a:endParaRPr lang="en-US"/>
        </a:p>
      </dgm:t>
    </dgm:pt>
    <dgm:pt modelId="{2289645D-985E-4173-9E34-03DA9AF9477C}" type="pres">
      <dgm:prSet presAssocID="{7EB844C3-B28A-4505-BF58-7BBF19705FD7}" presName="root" presStyleCnt="0">
        <dgm:presLayoutVars>
          <dgm:dir/>
          <dgm:resizeHandles val="exact"/>
        </dgm:presLayoutVars>
      </dgm:prSet>
      <dgm:spPr/>
    </dgm:pt>
    <dgm:pt modelId="{37C48332-CF3E-42C5-ACE0-12AAF1658C55}" type="pres">
      <dgm:prSet presAssocID="{A83CB8AA-CF36-43E7-AB09-E061B9F6E419}" presName="compNode" presStyleCnt="0"/>
      <dgm:spPr/>
    </dgm:pt>
    <dgm:pt modelId="{9BE52BFF-25C1-4E2E-A904-FC0D66C3F49A}" type="pres">
      <dgm:prSet presAssocID="{A83CB8AA-CF36-43E7-AB09-E061B9F6E419}" presName="bgRect" presStyleLbl="bgShp" presStyleIdx="0" presStyleCnt="4"/>
      <dgm:spPr/>
    </dgm:pt>
    <dgm:pt modelId="{FC049FED-2417-40DE-AD98-9756768A031C}" type="pres">
      <dgm:prSet presAssocID="{A83CB8AA-CF36-43E7-AB09-E061B9F6E41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8801D74-EDC9-41E0-872C-7715BF8ADE48}" type="pres">
      <dgm:prSet presAssocID="{A83CB8AA-CF36-43E7-AB09-E061B9F6E419}" presName="spaceRect" presStyleCnt="0"/>
      <dgm:spPr/>
    </dgm:pt>
    <dgm:pt modelId="{309D2C4C-C995-4FEE-A1B7-92368134F4DC}" type="pres">
      <dgm:prSet presAssocID="{A83CB8AA-CF36-43E7-AB09-E061B9F6E419}" presName="parTx" presStyleLbl="revTx" presStyleIdx="0" presStyleCnt="4">
        <dgm:presLayoutVars>
          <dgm:chMax val="0"/>
          <dgm:chPref val="0"/>
        </dgm:presLayoutVars>
      </dgm:prSet>
      <dgm:spPr/>
    </dgm:pt>
    <dgm:pt modelId="{F63C55F4-B362-4C20-BC73-9561B0E7A604}" type="pres">
      <dgm:prSet presAssocID="{BAF9ABB0-14DE-478F-91D3-394273EA3942}" presName="sibTrans" presStyleCnt="0"/>
      <dgm:spPr/>
    </dgm:pt>
    <dgm:pt modelId="{C6EF2D26-5519-49DC-82E6-C02861794467}" type="pres">
      <dgm:prSet presAssocID="{F3DA2905-2214-4486-8713-DCF5C54CDDE5}" presName="compNode" presStyleCnt="0"/>
      <dgm:spPr/>
    </dgm:pt>
    <dgm:pt modelId="{26E27178-9209-4BE0-B1AF-BA518EC84BEA}" type="pres">
      <dgm:prSet presAssocID="{F3DA2905-2214-4486-8713-DCF5C54CDDE5}" presName="bgRect" presStyleLbl="bgShp" presStyleIdx="1" presStyleCnt="4"/>
      <dgm:spPr/>
    </dgm:pt>
    <dgm:pt modelId="{70AD9C1D-6956-4E30-937F-008E150FD2E9}" type="pres">
      <dgm:prSet presAssocID="{F3DA2905-2214-4486-8713-DCF5C54CDDE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ADA34E3-9B26-4CC3-A318-7978E810DA98}" type="pres">
      <dgm:prSet presAssocID="{F3DA2905-2214-4486-8713-DCF5C54CDDE5}" presName="spaceRect" presStyleCnt="0"/>
      <dgm:spPr/>
    </dgm:pt>
    <dgm:pt modelId="{D970F90E-A803-4024-AEAF-81BC150D376C}" type="pres">
      <dgm:prSet presAssocID="{F3DA2905-2214-4486-8713-DCF5C54CDDE5}" presName="parTx" presStyleLbl="revTx" presStyleIdx="1" presStyleCnt="4">
        <dgm:presLayoutVars>
          <dgm:chMax val="0"/>
          <dgm:chPref val="0"/>
        </dgm:presLayoutVars>
      </dgm:prSet>
      <dgm:spPr/>
    </dgm:pt>
    <dgm:pt modelId="{F11CDC87-836A-44E3-B94C-DC625DF10191}" type="pres">
      <dgm:prSet presAssocID="{D1F5D614-BDA0-49CC-AFC4-48ADB0E70B07}" presName="sibTrans" presStyleCnt="0"/>
      <dgm:spPr/>
    </dgm:pt>
    <dgm:pt modelId="{D136488A-4272-41C6-9A37-824B17BCD2CF}" type="pres">
      <dgm:prSet presAssocID="{8D4F3F64-430C-4E08-A6D2-6A7E84B1F6C9}" presName="compNode" presStyleCnt="0"/>
      <dgm:spPr/>
    </dgm:pt>
    <dgm:pt modelId="{6DF30C45-2FEC-4EF1-846B-D73A21EA41F8}" type="pres">
      <dgm:prSet presAssocID="{8D4F3F64-430C-4E08-A6D2-6A7E84B1F6C9}" presName="bgRect" presStyleLbl="bgShp" presStyleIdx="2" presStyleCnt="4"/>
      <dgm:spPr/>
    </dgm:pt>
    <dgm:pt modelId="{A6AD528E-93A0-4E56-A3AC-4F43AB4BADF6}" type="pres">
      <dgm:prSet presAssocID="{8D4F3F64-430C-4E08-A6D2-6A7E84B1F6C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F81E4540-2B2B-4C18-8F01-A138C6A75E19}" type="pres">
      <dgm:prSet presAssocID="{8D4F3F64-430C-4E08-A6D2-6A7E84B1F6C9}" presName="spaceRect" presStyleCnt="0"/>
      <dgm:spPr/>
    </dgm:pt>
    <dgm:pt modelId="{98FEAD92-90C1-4ED3-A3DC-CE06B5057663}" type="pres">
      <dgm:prSet presAssocID="{8D4F3F64-430C-4E08-A6D2-6A7E84B1F6C9}" presName="parTx" presStyleLbl="revTx" presStyleIdx="2" presStyleCnt="4">
        <dgm:presLayoutVars>
          <dgm:chMax val="0"/>
          <dgm:chPref val="0"/>
        </dgm:presLayoutVars>
      </dgm:prSet>
      <dgm:spPr/>
    </dgm:pt>
    <dgm:pt modelId="{5EDA7D7A-0831-4812-946E-9E2544D8A01C}" type="pres">
      <dgm:prSet presAssocID="{81943ED9-D43D-4818-9962-2924724BD0DF}" presName="sibTrans" presStyleCnt="0"/>
      <dgm:spPr/>
    </dgm:pt>
    <dgm:pt modelId="{EFE58A30-5378-4A20-952B-E9CDEAF3AA20}" type="pres">
      <dgm:prSet presAssocID="{8C55608B-B678-4C71-B223-EBA87D5B6D8F}" presName="compNode" presStyleCnt="0"/>
      <dgm:spPr/>
    </dgm:pt>
    <dgm:pt modelId="{8A091E60-ABB0-4E09-8604-181AF3BF5E88}" type="pres">
      <dgm:prSet presAssocID="{8C55608B-B678-4C71-B223-EBA87D5B6D8F}" presName="bgRect" presStyleLbl="bgShp" presStyleIdx="3" presStyleCnt="4"/>
      <dgm:spPr/>
    </dgm:pt>
    <dgm:pt modelId="{714DD7B7-CB8B-42B0-A628-C52C3F193F9A}" type="pres">
      <dgm:prSet presAssocID="{8C55608B-B678-4C71-B223-EBA87D5B6D8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C2118F4-7AA3-493F-8F1C-6B5C608FCBF1}" type="pres">
      <dgm:prSet presAssocID="{8C55608B-B678-4C71-B223-EBA87D5B6D8F}" presName="spaceRect" presStyleCnt="0"/>
      <dgm:spPr/>
    </dgm:pt>
    <dgm:pt modelId="{D3F4BA78-FA1F-4A61-B9BA-1FCACDE89F57}" type="pres">
      <dgm:prSet presAssocID="{8C55608B-B678-4C71-B223-EBA87D5B6D8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2E05E15-824E-4841-AD9A-978696FB78F2}" type="presOf" srcId="{A83CB8AA-CF36-43E7-AB09-E061B9F6E419}" destId="{309D2C4C-C995-4FEE-A1B7-92368134F4DC}" srcOrd="0" destOrd="0" presId="urn:microsoft.com/office/officeart/2018/2/layout/IconVerticalSolidList"/>
    <dgm:cxn modelId="{1D14B220-2244-4579-9FFF-073319FD7F3E}" srcId="{7EB844C3-B28A-4505-BF58-7BBF19705FD7}" destId="{8D4F3F64-430C-4E08-A6D2-6A7E84B1F6C9}" srcOrd="2" destOrd="0" parTransId="{C127BF44-F747-48DB-BF50-07CECDF92593}" sibTransId="{81943ED9-D43D-4818-9962-2924724BD0DF}"/>
    <dgm:cxn modelId="{D435A32E-ED9B-4D55-ACF5-38A92A6E127E}" srcId="{7EB844C3-B28A-4505-BF58-7BBF19705FD7}" destId="{A83CB8AA-CF36-43E7-AB09-E061B9F6E419}" srcOrd="0" destOrd="0" parTransId="{B18030C6-5125-4A8E-9050-8A2C356B2D6B}" sibTransId="{BAF9ABB0-14DE-478F-91D3-394273EA3942}"/>
    <dgm:cxn modelId="{D0742D44-D96F-4FA9-8032-AABC4B30E549}" type="presOf" srcId="{8D4F3F64-430C-4E08-A6D2-6A7E84B1F6C9}" destId="{98FEAD92-90C1-4ED3-A3DC-CE06B5057663}" srcOrd="0" destOrd="0" presId="urn:microsoft.com/office/officeart/2018/2/layout/IconVerticalSolidList"/>
    <dgm:cxn modelId="{3471828F-33BB-41D1-BEE4-C167F0A5B97A}" type="presOf" srcId="{F3DA2905-2214-4486-8713-DCF5C54CDDE5}" destId="{D970F90E-A803-4024-AEAF-81BC150D376C}" srcOrd="0" destOrd="0" presId="urn:microsoft.com/office/officeart/2018/2/layout/IconVerticalSolidList"/>
    <dgm:cxn modelId="{96C3C997-48EB-44DB-8275-247850691395}" srcId="{7EB844C3-B28A-4505-BF58-7BBF19705FD7}" destId="{F3DA2905-2214-4486-8713-DCF5C54CDDE5}" srcOrd="1" destOrd="0" parTransId="{805F69B5-B63E-46D7-AF41-793ECC66CE80}" sibTransId="{D1F5D614-BDA0-49CC-AFC4-48ADB0E70B07}"/>
    <dgm:cxn modelId="{0884DBAC-47AB-4871-9B25-4CA242DD5726}" type="presOf" srcId="{8C55608B-B678-4C71-B223-EBA87D5B6D8F}" destId="{D3F4BA78-FA1F-4A61-B9BA-1FCACDE89F57}" srcOrd="0" destOrd="0" presId="urn:microsoft.com/office/officeart/2018/2/layout/IconVerticalSolidList"/>
    <dgm:cxn modelId="{E1E312CE-A06E-4B17-80DD-A9661BF3787E}" srcId="{7EB844C3-B28A-4505-BF58-7BBF19705FD7}" destId="{8C55608B-B678-4C71-B223-EBA87D5B6D8F}" srcOrd="3" destOrd="0" parTransId="{D3CBAB88-5560-43E8-82FC-E2EE7563E42A}" sibTransId="{0746356B-59E7-446E-A90A-285608560072}"/>
    <dgm:cxn modelId="{45D6AFCE-FDDD-497F-9CF6-462989A6CD80}" type="presOf" srcId="{7EB844C3-B28A-4505-BF58-7BBF19705FD7}" destId="{2289645D-985E-4173-9E34-03DA9AF9477C}" srcOrd="0" destOrd="0" presId="urn:microsoft.com/office/officeart/2018/2/layout/IconVerticalSolidList"/>
    <dgm:cxn modelId="{B0A27AE2-3B7D-45E7-B686-CCBC45710DD6}" type="presParOf" srcId="{2289645D-985E-4173-9E34-03DA9AF9477C}" destId="{37C48332-CF3E-42C5-ACE0-12AAF1658C55}" srcOrd="0" destOrd="0" presId="urn:microsoft.com/office/officeart/2018/2/layout/IconVerticalSolidList"/>
    <dgm:cxn modelId="{9FC280D4-63C6-4250-94E7-F9A81BFC6F2B}" type="presParOf" srcId="{37C48332-CF3E-42C5-ACE0-12AAF1658C55}" destId="{9BE52BFF-25C1-4E2E-A904-FC0D66C3F49A}" srcOrd="0" destOrd="0" presId="urn:microsoft.com/office/officeart/2018/2/layout/IconVerticalSolidList"/>
    <dgm:cxn modelId="{185D4C5F-8CF6-4170-9F07-7A2A6396D912}" type="presParOf" srcId="{37C48332-CF3E-42C5-ACE0-12AAF1658C55}" destId="{FC049FED-2417-40DE-AD98-9756768A031C}" srcOrd="1" destOrd="0" presId="urn:microsoft.com/office/officeart/2018/2/layout/IconVerticalSolidList"/>
    <dgm:cxn modelId="{CB8769C6-D87F-4CB9-9677-AA401FA618B0}" type="presParOf" srcId="{37C48332-CF3E-42C5-ACE0-12AAF1658C55}" destId="{98801D74-EDC9-41E0-872C-7715BF8ADE48}" srcOrd="2" destOrd="0" presId="urn:microsoft.com/office/officeart/2018/2/layout/IconVerticalSolidList"/>
    <dgm:cxn modelId="{92A863FD-D097-47C4-903C-877C6A184974}" type="presParOf" srcId="{37C48332-CF3E-42C5-ACE0-12AAF1658C55}" destId="{309D2C4C-C995-4FEE-A1B7-92368134F4DC}" srcOrd="3" destOrd="0" presId="urn:microsoft.com/office/officeart/2018/2/layout/IconVerticalSolidList"/>
    <dgm:cxn modelId="{3DFC1570-CD5D-45AE-89C7-DCCA4966B847}" type="presParOf" srcId="{2289645D-985E-4173-9E34-03DA9AF9477C}" destId="{F63C55F4-B362-4C20-BC73-9561B0E7A604}" srcOrd="1" destOrd="0" presId="urn:microsoft.com/office/officeart/2018/2/layout/IconVerticalSolidList"/>
    <dgm:cxn modelId="{3F69275B-AFAC-4ADF-A610-AE8D30C81112}" type="presParOf" srcId="{2289645D-985E-4173-9E34-03DA9AF9477C}" destId="{C6EF2D26-5519-49DC-82E6-C02861794467}" srcOrd="2" destOrd="0" presId="urn:microsoft.com/office/officeart/2018/2/layout/IconVerticalSolidList"/>
    <dgm:cxn modelId="{9199194F-E4F1-43FF-A3DC-57DF6EDCD865}" type="presParOf" srcId="{C6EF2D26-5519-49DC-82E6-C02861794467}" destId="{26E27178-9209-4BE0-B1AF-BA518EC84BEA}" srcOrd="0" destOrd="0" presId="urn:microsoft.com/office/officeart/2018/2/layout/IconVerticalSolidList"/>
    <dgm:cxn modelId="{9190CF64-E0B1-4466-802A-210CE0CEB0D3}" type="presParOf" srcId="{C6EF2D26-5519-49DC-82E6-C02861794467}" destId="{70AD9C1D-6956-4E30-937F-008E150FD2E9}" srcOrd="1" destOrd="0" presId="urn:microsoft.com/office/officeart/2018/2/layout/IconVerticalSolidList"/>
    <dgm:cxn modelId="{BE9E5E80-3941-4EF4-8364-448CB6D9559C}" type="presParOf" srcId="{C6EF2D26-5519-49DC-82E6-C02861794467}" destId="{FADA34E3-9B26-4CC3-A318-7978E810DA98}" srcOrd="2" destOrd="0" presId="urn:microsoft.com/office/officeart/2018/2/layout/IconVerticalSolidList"/>
    <dgm:cxn modelId="{C600C758-91CC-4292-8B3B-701E9694AF58}" type="presParOf" srcId="{C6EF2D26-5519-49DC-82E6-C02861794467}" destId="{D970F90E-A803-4024-AEAF-81BC150D376C}" srcOrd="3" destOrd="0" presId="urn:microsoft.com/office/officeart/2018/2/layout/IconVerticalSolidList"/>
    <dgm:cxn modelId="{5D66B34D-0C96-472A-9897-D70E31F681E2}" type="presParOf" srcId="{2289645D-985E-4173-9E34-03DA9AF9477C}" destId="{F11CDC87-836A-44E3-B94C-DC625DF10191}" srcOrd="3" destOrd="0" presId="urn:microsoft.com/office/officeart/2018/2/layout/IconVerticalSolidList"/>
    <dgm:cxn modelId="{E8FFBCC6-D009-4E9F-8263-9B80D7336349}" type="presParOf" srcId="{2289645D-985E-4173-9E34-03DA9AF9477C}" destId="{D136488A-4272-41C6-9A37-824B17BCD2CF}" srcOrd="4" destOrd="0" presId="urn:microsoft.com/office/officeart/2018/2/layout/IconVerticalSolidList"/>
    <dgm:cxn modelId="{0BA0A02B-394F-4AC4-9ABF-289AA13FB3F3}" type="presParOf" srcId="{D136488A-4272-41C6-9A37-824B17BCD2CF}" destId="{6DF30C45-2FEC-4EF1-846B-D73A21EA41F8}" srcOrd="0" destOrd="0" presId="urn:microsoft.com/office/officeart/2018/2/layout/IconVerticalSolidList"/>
    <dgm:cxn modelId="{8C42FEA7-4B57-4C52-932D-36BF13DB109A}" type="presParOf" srcId="{D136488A-4272-41C6-9A37-824B17BCD2CF}" destId="{A6AD528E-93A0-4E56-A3AC-4F43AB4BADF6}" srcOrd="1" destOrd="0" presId="urn:microsoft.com/office/officeart/2018/2/layout/IconVerticalSolidList"/>
    <dgm:cxn modelId="{DDB3BCBB-3C09-4B63-A974-899BB87BA6D3}" type="presParOf" srcId="{D136488A-4272-41C6-9A37-824B17BCD2CF}" destId="{F81E4540-2B2B-4C18-8F01-A138C6A75E19}" srcOrd="2" destOrd="0" presId="urn:microsoft.com/office/officeart/2018/2/layout/IconVerticalSolidList"/>
    <dgm:cxn modelId="{E28AB89E-2C19-48ED-B597-396A105CC569}" type="presParOf" srcId="{D136488A-4272-41C6-9A37-824B17BCD2CF}" destId="{98FEAD92-90C1-4ED3-A3DC-CE06B5057663}" srcOrd="3" destOrd="0" presId="urn:microsoft.com/office/officeart/2018/2/layout/IconVerticalSolidList"/>
    <dgm:cxn modelId="{F0D5F11D-8C5F-4A26-A6F2-95AAE1B627C2}" type="presParOf" srcId="{2289645D-985E-4173-9E34-03DA9AF9477C}" destId="{5EDA7D7A-0831-4812-946E-9E2544D8A01C}" srcOrd="5" destOrd="0" presId="urn:microsoft.com/office/officeart/2018/2/layout/IconVerticalSolidList"/>
    <dgm:cxn modelId="{73D00A80-2B25-4342-9416-F35D217F9F7C}" type="presParOf" srcId="{2289645D-985E-4173-9E34-03DA9AF9477C}" destId="{EFE58A30-5378-4A20-952B-E9CDEAF3AA20}" srcOrd="6" destOrd="0" presId="urn:microsoft.com/office/officeart/2018/2/layout/IconVerticalSolidList"/>
    <dgm:cxn modelId="{1183C8E9-9A26-4FBA-A62F-C6B13B22B498}" type="presParOf" srcId="{EFE58A30-5378-4A20-952B-E9CDEAF3AA20}" destId="{8A091E60-ABB0-4E09-8604-181AF3BF5E88}" srcOrd="0" destOrd="0" presId="urn:microsoft.com/office/officeart/2018/2/layout/IconVerticalSolidList"/>
    <dgm:cxn modelId="{6AD464D6-849D-41C8-B6D3-BB0303FAC666}" type="presParOf" srcId="{EFE58A30-5378-4A20-952B-E9CDEAF3AA20}" destId="{714DD7B7-CB8B-42B0-A628-C52C3F193F9A}" srcOrd="1" destOrd="0" presId="urn:microsoft.com/office/officeart/2018/2/layout/IconVerticalSolidList"/>
    <dgm:cxn modelId="{5BCA64C5-1EF5-4E22-AF4B-CF0FC310C234}" type="presParOf" srcId="{EFE58A30-5378-4A20-952B-E9CDEAF3AA20}" destId="{6C2118F4-7AA3-493F-8F1C-6B5C608FCBF1}" srcOrd="2" destOrd="0" presId="urn:microsoft.com/office/officeart/2018/2/layout/IconVerticalSolidList"/>
    <dgm:cxn modelId="{B10DC91B-9864-4397-BE01-B2612E40EB43}" type="presParOf" srcId="{EFE58A30-5378-4A20-952B-E9CDEAF3AA20}" destId="{D3F4BA78-FA1F-4A61-B9BA-1FCACDE89F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8AABE6-634D-424C-90F9-487DD4E8405A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146A0CF-44C8-45A5-AFCF-66E6EEA41C2A}">
      <dgm:prSet/>
      <dgm:spPr/>
      <dgm:t>
        <a:bodyPr/>
        <a:lstStyle/>
        <a:p>
          <a:r>
            <a:rPr lang="en-US" b="1" i="0"/>
            <a:t>Current: </a:t>
          </a:r>
          <a:r>
            <a:rPr lang="en-US" b="0" i="0"/>
            <a:t>synthetic data, local implementation</a:t>
          </a:r>
          <a:endParaRPr lang="en-US"/>
        </a:p>
      </dgm:t>
    </dgm:pt>
    <dgm:pt modelId="{A0F48A1E-F8FD-48AA-8FAE-134DA8861FFE}" type="parTrans" cxnId="{6B876B8F-18C3-4E16-BF49-C5FF3553F535}">
      <dgm:prSet/>
      <dgm:spPr/>
      <dgm:t>
        <a:bodyPr/>
        <a:lstStyle/>
        <a:p>
          <a:endParaRPr lang="en-US"/>
        </a:p>
      </dgm:t>
    </dgm:pt>
    <dgm:pt modelId="{4A15E8E0-4C00-4C9A-958D-8BF5BCDB81D5}" type="sibTrans" cxnId="{6B876B8F-18C3-4E16-BF49-C5FF3553F535}">
      <dgm:prSet/>
      <dgm:spPr/>
      <dgm:t>
        <a:bodyPr/>
        <a:lstStyle/>
        <a:p>
          <a:endParaRPr lang="en-US"/>
        </a:p>
      </dgm:t>
    </dgm:pt>
    <dgm:pt modelId="{481F4E20-A182-4D1F-AC16-B685A027A2C2}">
      <dgm:prSet/>
      <dgm:spPr/>
      <dgm:t>
        <a:bodyPr/>
        <a:lstStyle/>
        <a:p>
          <a:r>
            <a:rPr lang="en-US" b="1" i="0"/>
            <a:t>Target: </a:t>
          </a:r>
          <a:r>
            <a:rPr lang="en-US" b="0" i="0"/>
            <a:t>real Teradata ingestion &amp; AWS S3 integration</a:t>
          </a:r>
          <a:endParaRPr lang="en-US"/>
        </a:p>
      </dgm:t>
    </dgm:pt>
    <dgm:pt modelId="{7ADA88D3-9664-4A70-8178-D1B557CB4CAB}" type="parTrans" cxnId="{EBE45B7A-5AF2-4738-9B0E-927DAEFD7E89}">
      <dgm:prSet/>
      <dgm:spPr/>
      <dgm:t>
        <a:bodyPr/>
        <a:lstStyle/>
        <a:p>
          <a:endParaRPr lang="en-US"/>
        </a:p>
      </dgm:t>
    </dgm:pt>
    <dgm:pt modelId="{B3725741-493A-4D90-9ABA-5EDB22A5BF8C}" type="sibTrans" cxnId="{EBE45B7A-5AF2-4738-9B0E-927DAEFD7E89}">
      <dgm:prSet/>
      <dgm:spPr/>
      <dgm:t>
        <a:bodyPr/>
        <a:lstStyle/>
        <a:p>
          <a:endParaRPr lang="en-US"/>
        </a:p>
      </dgm:t>
    </dgm:pt>
    <dgm:pt modelId="{811BC6BC-E3D0-4197-B24B-621969EA3D25}">
      <dgm:prSet/>
      <dgm:spPr/>
      <dgm:t>
        <a:bodyPr/>
        <a:lstStyle/>
        <a:p>
          <a:r>
            <a:rPr lang="en-US" b="0" i="0"/>
            <a:t>Workflow scheduling &amp; Hive metadata management</a:t>
          </a:r>
          <a:endParaRPr lang="en-US"/>
        </a:p>
      </dgm:t>
    </dgm:pt>
    <dgm:pt modelId="{DE39D08D-202C-43EA-88A3-9357B80F44FD}" type="parTrans" cxnId="{7741A94C-97E5-4653-91A2-35B717DCA066}">
      <dgm:prSet/>
      <dgm:spPr/>
      <dgm:t>
        <a:bodyPr/>
        <a:lstStyle/>
        <a:p>
          <a:endParaRPr lang="en-US"/>
        </a:p>
      </dgm:t>
    </dgm:pt>
    <dgm:pt modelId="{A41BB5D3-A7E9-4FC8-A1FC-58D63EC3C357}" type="sibTrans" cxnId="{7741A94C-97E5-4653-91A2-35B717DCA066}">
      <dgm:prSet/>
      <dgm:spPr/>
      <dgm:t>
        <a:bodyPr/>
        <a:lstStyle/>
        <a:p>
          <a:endParaRPr lang="en-US"/>
        </a:p>
      </dgm:t>
    </dgm:pt>
    <dgm:pt modelId="{27A032FC-54A6-4BE0-8B15-3FB0A1DC2FFD}">
      <dgm:prSet/>
      <dgm:spPr/>
      <dgm:t>
        <a:bodyPr/>
        <a:lstStyle/>
        <a:p>
          <a:r>
            <a:rPr lang="en-US" b="0" i="0"/>
            <a:t>Enterprise Data Lake with Cloudera AI</a:t>
          </a:r>
          <a:endParaRPr lang="en-US"/>
        </a:p>
      </dgm:t>
    </dgm:pt>
    <dgm:pt modelId="{C050B409-8B02-4212-AAA5-A935B1214F33}" type="parTrans" cxnId="{14FBAF37-3C12-4FF0-8A9E-8792440D2B09}">
      <dgm:prSet/>
      <dgm:spPr/>
      <dgm:t>
        <a:bodyPr/>
        <a:lstStyle/>
        <a:p>
          <a:endParaRPr lang="en-US"/>
        </a:p>
      </dgm:t>
    </dgm:pt>
    <dgm:pt modelId="{1E4EC213-F572-40F8-BE93-B3718F944BE3}" type="sibTrans" cxnId="{14FBAF37-3C12-4FF0-8A9E-8792440D2B09}">
      <dgm:prSet/>
      <dgm:spPr/>
      <dgm:t>
        <a:bodyPr/>
        <a:lstStyle/>
        <a:p>
          <a:endParaRPr lang="en-US"/>
        </a:p>
      </dgm:t>
    </dgm:pt>
    <dgm:pt modelId="{7A526DDB-369F-4F0E-A5BE-A8C8A6EF364F}">
      <dgm:prSet/>
      <dgm:spPr/>
      <dgm:t>
        <a:bodyPr/>
        <a:lstStyle/>
        <a:p>
          <a:r>
            <a:rPr lang="en-US" b="0" i="0"/>
            <a:t>Governance and monitoring</a:t>
          </a:r>
          <a:endParaRPr lang="en-US"/>
        </a:p>
      </dgm:t>
    </dgm:pt>
    <dgm:pt modelId="{EA0A3D94-BAC0-421A-BE80-E99A18A34B51}" type="parTrans" cxnId="{CC503DFA-1A32-4617-A1DD-39993FCF808D}">
      <dgm:prSet/>
      <dgm:spPr/>
      <dgm:t>
        <a:bodyPr/>
        <a:lstStyle/>
        <a:p>
          <a:endParaRPr lang="en-US"/>
        </a:p>
      </dgm:t>
    </dgm:pt>
    <dgm:pt modelId="{F999D566-DA25-4FA9-B4FC-1069BD531F2F}" type="sibTrans" cxnId="{CC503DFA-1A32-4617-A1DD-39993FCF808D}">
      <dgm:prSet/>
      <dgm:spPr/>
      <dgm:t>
        <a:bodyPr/>
        <a:lstStyle/>
        <a:p>
          <a:endParaRPr lang="en-US"/>
        </a:p>
      </dgm:t>
    </dgm:pt>
    <dgm:pt modelId="{D4683CC9-C077-45BB-B297-E9573C3DB9A3}" type="pres">
      <dgm:prSet presAssocID="{828AABE6-634D-424C-90F9-487DD4E8405A}" presName="root" presStyleCnt="0">
        <dgm:presLayoutVars>
          <dgm:dir/>
          <dgm:resizeHandles val="exact"/>
        </dgm:presLayoutVars>
      </dgm:prSet>
      <dgm:spPr/>
    </dgm:pt>
    <dgm:pt modelId="{D65779F3-14A6-45C7-95A8-37624FF88194}" type="pres">
      <dgm:prSet presAssocID="{7146A0CF-44C8-45A5-AFCF-66E6EEA41C2A}" presName="compNode" presStyleCnt="0"/>
      <dgm:spPr/>
    </dgm:pt>
    <dgm:pt modelId="{0320AD96-3C6C-42D9-9F37-FD6B464E5178}" type="pres">
      <dgm:prSet presAssocID="{7146A0CF-44C8-45A5-AFCF-66E6EEA41C2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9E694AB1-09A8-4318-977E-9E4A80269801}" type="pres">
      <dgm:prSet presAssocID="{7146A0CF-44C8-45A5-AFCF-66E6EEA41C2A}" presName="spaceRect" presStyleCnt="0"/>
      <dgm:spPr/>
    </dgm:pt>
    <dgm:pt modelId="{BB3528E2-06BB-41EA-8683-F6C83C2298BC}" type="pres">
      <dgm:prSet presAssocID="{7146A0CF-44C8-45A5-AFCF-66E6EEA41C2A}" presName="textRect" presStyleLbl="revTx" presStyleIdx="0" presStyleCnt="5">
        <dgm:presLayoutVars>
          <dgm:chMax val="1"/>
          <dgm:chPref val="1"/>
        </dgm:presLayoutVars>
      </dgm:prSet>
      <dgm:spPr/>
    </dgm:pt>
    <dgm:pt modelId="{98222424-491E-42BE-AFC5-C4345ED566A1}" type="pres">
      <dgm:prSet presAssocID="{4A15E8E0-4C00-4C9A-958D-8BF5BCDB81D5}" presName="sibTrans" presStyleCnt="0"/>
      <dgm:spPr/>
    </dgm:pt>
    <dgm:pt modelId="{77B904A9-970D-4BAA-A9DE-FAF3FDCC36F9}" type="pres">
      <dgm:prSet presAssocID="{481F4E20-A182-4D1F-AC16-B685A027A2C2}" presName="compNode" presStyleCnt="0"/>
      <dgm:spPr/>
    </dgm:pt>
    <dgm:pt modelId="{AADA174A-8B15-4D4F-B7B3-7AF109AF2E99}" type="pres">
      <dgm:prSet presAssocID="{481F4E20-A182-4D1F-AC16-B685A027A2C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76BAF6D-FA16-4F00-9F20-36D52AA5B3DE}" type="pres">
      <dgm:prSet presAssocID="{481F4E20-A182-4D1F-AC16-B685A027A2C2}" presName="spaceRect" presStyleCnt="0"/>
      <dgm:spPr/>
    </dgm:pt>
    <dgm:pt modelId="{F4F8DC13-9551-4B02-9198-C660193D0AD0}" type="pres">
      <dgm:prSet presAssocID="{481F4E20-A182-4D1F-AC16-B685A027A2C2}" presName="textRect" presStyleLbl="revTx" presStyleIdx="1" presStyleCnt="5">
        <dgm:presLayoutVars>
          <dgm:chMax val="1"/>
          <dgm:chPref val="1"/>
        </dgm:presLayoutVars>
      </dgm:prSet>
      <dgm:spPr/>
    </dgm:pt>
    <dgm:pt modelId="{CF24B7CB-5502-48FB-97A9-7D95E9B519C3}" type="pres">
      <dgm:prSet presAssocID="{B3725741-493A-4D90-9ABA-5EDB22A5BF8C}" presName="sibTrans" presStyleCnt="0"/>
      <dgm:spPr/>
    </dgm:pt>
    <dgm:pt modelId="{4F8D9276-7011-41C7-A5AB-F45247149BD6}" type="pres">
      <dgm:prSet presAssocID="{811BC6BC-E3D0-4197-B24B-621969EA3D25}" presName="compNode" presStyleCnt="0"/>
      <dgm:spPr/>
    </dgm:pt>
    <dgm:pt modelId="{6C89ADA0-5A94-4A7F-A214-A56FBF1C3E1A}" type="pres">
      <dgm:prSet presAssocID="{811BC6BC-E3D0-4197-B24B-621969EA3D2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CF18978-3803-4101-ADE2-5EE17A1A50D9}" type="pres">
      <dgm:prSet presAssocID="{811BC6BC-E3D0-4197-B24B-621969EA3D25}" presName="spaceRect" presStyleCnt="0"/>
      <dgm:spPr/>
    </dgm:pt>
    <dgm:pt modelId="{CAD67AD9-4326-4899-9033-AF523C675517}" type="pres">
      <dgm:prSet presAssocID="{811BC6BC-E3D0-4197-B24B-621969EA3D25}" presName="textRect" presStyleLbl="revTx" presStyleIdx="2" presStyleCnt="5">
        <dgm:presLayoutVars>
          <dgm:chMax val="1"/>
          <dgm:chPref val="1"/>
        </dgm:presLayoutVars>
      </dgm:prSet>
      <dgm:spPr/>
    </dgm:pt>
    <dgm:pt modelId="{68683557-AAAF-4793-BB83-383ED458DC44}" type="pres">
      <dgm:prSet presAssocID="{A41BB5D3-A7E9-4FC8-A1FC-58D63EC3C357}" presName="sibTrans" presStyleCnt="0"/>
      <dgm:spPr/>
    </dgm:pt>
    <dgm:pt modelId="{15061224-3343-484A-BD52-4E8ECAA625E4}" type="pres">
      <dgm:prSet presAssocID="{27A032FC-54A6-4BE0-8B15-3FB0A1DC2FFD}" presName="compNode" presStyleCnt="0"/>
      <dgm:spPr/>
    </dgm:pt>
    <dgm:pt modelId="{70B059BE-8B2A-40B9-BCE3-D6CBEBF3DD4E}" type="pres">
      <dgm:prSet presAssocID="{27A032FC-54A6-4BE0-8B15-3FB0A1DC2FF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88A5BDE-6352-4BD1-A873-42941E5BA40F}" type="pres">
      <dgm:prSet presAssocID="{27A032FC-54A6-4BE0-8B15-3FB0A1DC2FFD}" presName="spaceRect" presStyleCnt="0"/>
      <dgm:spPr/>
    </dgm:pt>
    <dgm:pt modelId="{CD65F2B6-762D-4D7E-91F6-00DCAA180FD8}" type="pres">
      <dgm:prSet presAssocID="{27A032FC-54A6-4BE0-8B15-3FB0A1DC2FFD}" presName="textRect" presStyleLbl="revTx" presStyleIdx="3" presStyleCnt="5">
        <dgm:presLayoutVars>
          <dgm:chMax val="1"/>
          <dgm:chPref val="1"/>
        </dgm:presLayoutVars>
      </dgm:prSet>
      <dgm:spPr/>
    </dgm:pt>
    <dgm:pt modelId="{28642953-9D30-424E-B6BB-7F9400C768B4}" type="pres">
      <dgm:prSet presAssocID="{1E4EC213-F572-40F8-BE93-B3718F944BE3}" presName="sibTrans" presStyleCnt="0"/>
      <dgm:spPr/>
    </dgm:pt>
    <dgm:pt modelId="{B4546059-5BEF-4F56-A61B-CC42D0D10542}" type="pres">
      <dgm:prSet presAssocID="{7A526DDB-369F-4F0E-A5BE-A8C8A6EF364F}" presName="compNode" presStyleCnt="0"/>
      <dgm:spPr/>
    </dgm:pt>
    <dgm:pt modelId="{582E2716-688A-4780-AB0D-EDAFC3070589}" type="pres">
      <dgm:prSet presAssocID="{7A526DDB-369F-4F0E-A5BE-A8C8A6EF364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6CB618B3-8848-4B3A-A3D5-75C6D4109DE7}" type="pres">
      <dgm:prSet presAssocID="{7A526DDB-369F-4F0E-A5BE-A8C8A6EF364F}" presName="spaceRect" presStyleCnt="0"/>
      <dgm:spPr/>
    </dgm:pt>
    <dgm:pt modelId="{34AF671B-D2C0-4F8B-BC8E-E64D22AE08FE}" type="pres">
      <dgm:prSet presAssocID="{7A526DDB-369F-4F0E-A5BE-A8C8A6EF364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168A104-3209-4ED6-8779-790975851956}" type="presOf" srcId="{7146A0CF-44C8-45A5-AFCF-66E6EEA41C2A}" destId="{BB3528E2-06BB-41EA-8683-F6C83C2298BC}" srcOrd="0" destOrd="0" presId="urn:microsoft.com/office/officeart/2018/2/layout/IconLabelList"/>
    <dgm:cxn modelId="{29EEAD1E-4ABA-4E3A-91AF-3E446BACF457}" type="presOf" srcId="{828AABE6-634D-424C-90F9-487DD4E8405A}" destId="{D4683CC9-C077-45BB-B297-E9573C3DB9A3}" srcOrd="0" destOrd="0" presId="urn:microsoft.com/office/officeart/2018/2/layout/IconLabelList"/>
    <dgm:cxn modelId="{14FBAF37-3C12-4FF0-8A9E-8792440D2B09}" srcId="{828AABE6-634D-424C-90F9-487DD4E8405A}" destId="{27A032FC-54A6-4BE0-8B15-3FB0A1DC2FFD}" srcOrd="3" destOrd="0" parTransId="{C050B409-8B02-4212-AAA5-A935B1214F33}" sibTransId="{1E4EC213-F572-40F8-BE93-B3718F944BE3}"/>
    <dgm:cxn modelId="{780E2B6A-B3CC-4450-BDB7-8E94068C48B5}" type="presOf" srcId="{481F4E20-A182-4D1F-AC16-B685A027A2C2}" destId="{F4F8DC13-9551-4B02-9198-C660193D0AD0}" srcOrd="0" destOrd="0" presId="urn:microsoft.com/office/officeart/2018/2/layout/IconLabelList"/>
    <dgm:cxn modelId="{7741A94C-97E5-4653-91A2-35B717DCA066}" srcId="{828AABE6-634D-424C-90F9-487DD4E8405A}" destId="{811BC6BC-E3D0-4197-B24B-621969EA3D25}" srcOrd="2" destOrd="0" parTransId="{DE39D08D-202C-43EA-88A3-9357B80F44FD}" sibTransId="{A41BB5D3-A7E9-4FC8-A1FC-58D63EC3C357}"/>
    <dgm:cxn modelId="{EBE45B7A-5AF2-4738-9B0E-927DAEFD7E89}" srcId="{828AABE6-634D-424C-90F9-487DD4E8405A}" destId="{481F4E20-A182-4D1F-AC16-B685A027A2C2}" srcOrd="1" destOrd="0" parTransId="{7ADA88D3-9664-4A70-8178-D1B557CB4CAB}" sibTransId="{B3725741-493A-4D90-9ABA-5EDB22A5BF8C}"/>
    <dgm:cxn modelId="{1570097B-F737-4E46-9A5F-3B2875027E64}" type="presOf" srcId="{811BC6BC-E3D0-4197-B24B-621969EA3D25}" destId="{CAD67AD9-4326-4899-9033-AF523C675517}" srcOrd="0" destOrd="0" presId="urn:microsoft.com/office/officeart/2018/2/layout/IconLabelList"/>
    <dgm:cxn modelId="{6B876B8F-18C3-4E16-BF49-C5FF3553F535}" srcId="{828AABE6-634D-424C-90F9-487DD4E8405A}" destId="{7146A0CF-44C8-45A5-AFCF-66E6EEA41C2A}" srcOrd="0" destOrd="0" parTransId="{A0F48A1E-F8FD-48AA-8FAE-134DA8861FFE}" sibTransId="{4A15E8E0-4C00-4C9A-958D-8BF5BCDB81D5}"/>
    <dgm:cxn modelId="{D7EE3C90-D530-43EC-AFE5-6111EC944773}" type="presOf" srcId="{7A526DDB-369F-4F0E-A5BE-A8C8A6EF364F}" destId="{34AF671B-D2C0-4F8B-BC8E-E64D22AE08FE}" srcOrd="0" destOrd="0" presId="urn:microsoft.com/office/officeart/2018/2/layout/IconLabelList"/>
    <dgm:cxn modelId="{3922C1D8-15D9-47A1-A0BF-D8DFCADE5483}" type="presOf" srcId="{27A032FC-54A6-4BE0-8B15-3FB0A1DC2FFD}" destId="{CD65F2B6-762D-4D7E-91F6-00DCAA180FD8}" srcOrd="0" destOrd="0" presId="urn:microsoft.com/office/officeart/2018/2/layout/IconLabelList"/>
    <dgm:cxn modelId="{CC503DFA-1A32-4617-A1DD-39993FCF808D}" srcId="{828AABE6-634D-424C-90F9-487DD4E8405A}" destId="{7A526DDB-369F-4F0E-A5BE-A8C8A6EF364F}" srcOrd="4" destOrd="0" parTransId="{EA0A3D94-BAC0-421A-BE80-E99A18A34B51}" sibTransId="{F999D566-DA25-4FA9-B4FC-1069BD531F2F}"/>
    <dgm:cxn modelId="{DC807A52-9A06-460C-B024-EF7464C07AC3}" type="presParOf" srcId="{D4683CC9-C077-45BB-B297-E9573C3DB9A3}" destId="{D65779F3-14A6-45C7-95A8-37624FF88194}" srcOrd="0" destOrd="0" presId="urn:microsoft.com/office/officeart/2018/2/layout/IconLabelList"/>
    <dgm:cxn modelId="{FA916DF2-51F9-4FED-A787-88BBB585CB6C}" type="presParOf" srcId="{D65779F3-14A6-45C7-95A8-37624FF88194}" destId="{0320AD96-3C6C-42D9-9F37-FD6B464E5178}" srcOrd="0" destOrd="0" presId="urn:microsoft.com/office/officeart/2018/2/layout/IconLabelList"/>
    <dgm:cxn modelId="{6D61FC7A-A91C-4A3A-8B9F-AEACC9972B32}" type="presParOf" srcId="{D65779F3-14A6-45C7-95A8-37624FF88194}" destId="{9E694AB1-09A8-4318-977E-9E4A80269801}" srcOrd="1" destOrd="0" presId="urn:microsoft.com/office/officeart/2018/2/layout/IconLabelList"/>
    <dgm:cxn modelId="{48C6219C-BB2D-4E28-B768-8EA79FB9A390}" type="presParOf" srcId="{D65779F3-14A6-45C7-95A8-37624FF88194}" destId="{BB3528E2-06BB-41EA-8683-F6C83C2298BC}" srcOrd="2" destOrd="0" presId="urn:microsoft.com/office/officeart/2018/2/layout/IconLabelList"/>
    <dgm:cxn modelId="{DAF17434-01B1-412E-B2D9-BE0A36CC1BC4}" type="presParOf" srcId="{D4683CC9-C077-45BB-B297-E9573C3DB9A3}" destId="{98222424-491E-42BE-AFC5-C4345ED566A1}" srcOrd="1" destOrd="0" presId="urn:microsoft.com/office/officeart/2018/2/layout/IconLabelList"/>
    <dgm:cxn modelId="{B1DB4E06-02EF-4F6D-8006-17530A1F3245}" type="presParOf" srcId="{D4683CC9-C077-45BB-B297-E9573C3DB9A3}" destId="{77B904A9-970D-4BAA-A9DE-FAF3FDCC36F9}" srcOrd="2" destOrd="0" presId="urn:microsoft.com/office/officeart/2018/2/layout/IconLabelList"/>
    <dgm:cxn modelId="{1A316F39-B352-45D8-BE64-E4BF29BBB399}" type="presParOf" srcId="{77B904A9-970D-4BAA-A9DE-FAF3FDCC36F9}" destId="{AADA174A-8B15-4D4F-B7B3-7AF109AF2E99}" srcOrd="0" destOrd="0" presId="urn:microsoft.com/office/officeart/2018/2/layout/IconLabelList"/>
    <dgm:cxn modelId="{041BFC07-8C99-48C4-AD7F-D53F77D807EC}" type="presParOf" srcId="{77B904A9-970D-4BAA-A9DE-FAF3FDCC36F9}" destId="{776BAF6D-FA16-4F00-9F20-36D52AA5B3DE}" srcOrd="1" destOrd="0" presId="urn:microsoft.com/office/officeart/2018/2/layout/IconLabelList"/>
    <dgm:cxn modelId="{0621B6A2-8C26-40BC-AC82-03F40127130B}" type="presParOf" srcId="{77B904A9-970D-4BAA-A9DE-FAF3FDCC36F9}" destId="{F4F8DC13-9551-4B02-9198-C660193D0AD0}" srcOrd="2" destOrd="0" presId="urn:microsoft.com/office/officeart/2018/2/layout/IconLabelList"/>
    <dgm:cxn modelId="{2727C266-5F65-471D-A072-594FF0A6D32E}" type="presParOf" srcId="{D4683CC9-C077-45BB-B297-E9573C3DB9A3}" destId="{CF24B7CB-5502-48FB-97A9-7D95E9B519C3}" srcOrd="3" destOrd="0" presId="urn:microsoft.com/office/officeart/2018/2/layout/IconLabelList"/>
    <dgm:cxn modelId="{967CDFA8-625C-45C3-9525-A14B56E7F8EC}" type="presParOf" srcId="{D4683CC9-C077-45BB-B297-E9573C3DB9A3}" destId="{4F8D9276-7011-41C7-A5AB-F45247149BD6}" srcOrd="4" destOrd="0" presId="urn:microsoft.com/office/officeart/2018/2/layout/IconLabelList"/>
    <dgm:cxn modelId="{0DC83C96-FC34-48D8-A441-CB2908EDA5D6}" type="presParOf" srcId="{4F8D9276-7011-41C7-A5AB-F45247149BD6}" destId="{6C89ADA0-5A94-4A7F-A214-A56FBF1C3E1A}" srcOrd="0" destOrd="0" presId="urn:microsoft.com/office/officeart/2018/2/layout/IconLabelList"/>
    <dgm:cxn modelId="{C8BB7628-33A9-491C-B54F-70404A4865A6}" type="presParOf" srcId="{4F8D9276-7011-41C7-A5AB-F45247149BD6}" destId="{CCF18978-3803-4101-ADE2-5EE17A1A50D9}" srcOrd="1" destOrd="0" presId="urn:microsoft.com/office/officeart/2018/2/layout/IconLabelList"/>
    <dgm:cxn modelId="{C9FA4BBA-E663-4225-8F06-7890C9A314CB}" type="presParOf" srcId="{4F8D9276-7011-41C7-A5AB-F45247149BD6}" destId="{CAD67AD9-4326-4899-9033-AF523C675517}" srcOrd="2" destOrd="0" presId="urn:microsoft.com/office/officeart/2018/2/layout/IconLabelList"/>
    <dgm:cxn modelId="{C85BC6BE-DA49-4238-B14F-8CAEDCD4DD0F}" type="presParOf" srcId="{D4683CC9-C077-45BB-B297-E9573C3DB9A3}" destId="{68683557-AAAF-4793-BB83-383ED458DC44}" srcOrd="5" destOrd="0" presId="urn:microsoft.com/office/officeart/2018/2/layout/IconLabelList"/>
    <dgm:cxn modelId="{67A0987B-9FF6-49E2-8042-407DF03257C5}" type="presParOf" srcId="{D4683CC9-C077-45BB-B297-E9573C3DB9A3}" destId="{15061224-3343-484A-BD52-4E8ECAA625E4}" srcOrd="6" destOrd="0" presId="urn:microsoft.com/office/officeart/2018/2/layout/IconLabelList"/>
    <dgm:cxn modelId="{ED9C48A3-EC7B-4284-AA66-3305E7D2953B}" type="presParOf" srcId="{15061224-3343-484A-BD52-4E8ECAA625E4}" destId="{70B059BE-8B2A-40B9-BCE3-D6CBEBF3DD4E}" srcOrd="0" destOrd="0" presId="urn:microsoft.com/office/officeart/2018/2/layout/IconLabelList"/>
    <dgm:cxn modelId="{078BFF07-671E-48FB-BC97-AEF9CC84E603}" type="presParOf" srcId="{15061224-3343-484A-BD52-4E8ECAA625E4}" destId="{A88A5BDE-6352-4BD1-A873-42941E5BA40F}" srcOrd="1" destOrd="0" presId="urn:microsoft.com/office/officeart/2018/2/layout/IconLabelList"/>
    <dgm:cxn modelId="{41ACF9EB-7217-4FF0-A7B6-3C8E1BF93E5E}" type="presParOf" srcId="{15061224-3343-484A-BD52-4E8ECAA625E4}" destId="{CD65F2B6-762D-4D7E-91F6-00DCAA180FD8}" srcOrd="2" destOrd="0" presId="urn:microsoft.com/office/officeart/2018/2/layout/IconLabelList"/>
    <dgm:cxn modelId="{2EE72812-0CD3-40D7-8A42-A41C17FB33C8}" type="presParOf" srcId="{D4683CC9-C077-45BB-B297-E9573C3DB9A3}" destId="{28642953-9D30-424E-B6BB-7F9400C768B4}" srcOrd="7" destOrd="0" presId="urn:microsoft.com/office/officeart/2018/2/layout/IconLabelList"/>
    <dgm:cxn modelId="{A82CE5D6-F041-4950-B89A-C855D5078E8F}" type="presParOf" srcId="{D4683CC9-C077-45BB-B297-E9573C3DB9A3}" destId="{B4546059-5BEF-4F56-A61B-CC42D0D10542}" srcOrd="8" destOrd="0" presId="urn:microsoft.com/office/officeart/2018/2/layout/IconLabelList"/>
    <dgm:cxn modelId="{A77A19EE-A56E-411A-9CE6-A60561EE611D}" type="presParOf" srcId="{B4546059-5BEF-4F56-A61B-CC42D0D10542}" destId="{582E2716-688A-4780-AB0D-EDAFC3070589}" srcOrd="0" destOrd="0" presId="urn:microsoft.com/office/officeart/2018/2/layout/IconLabelList"/>
    <dgm:cxn modelId="{CD1BC669-2EC5-489B-9C21-96084316622F}" type="presParOf" srcId="{B4546059-5BEF-4F56-A61B-CC42D0D10542}" destId="{6CB618B3-8848-4B3A-A3D5-75C6D4109DE7}" srcOrd="1" destOrd="0" presId="urn:microsoft.com/office/officeart/2018/2/layout/IconLabelList"/>
    <dgm:cxn modelId="{FCBBAACB-3289-492D-B061-47EFB8C4EA49}" type="presParOf" srcId="{B4546059-5BEF-4F56-A61B-CC42D0D10542}" destId="{34AF671B-D2C0-4F8B-BC8E-E64D22AE08F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52BFF-25C1-4E2E-A904-FC0D66C3F49A}">
      <dsp:nvSpPr>
        <dsp:cNvPr id="0" name=""/>
        <dsp:cNvSpPr/>
      </dsp:nvSpPr>
      <dsp:spPr>
        <a:xfrm>
          <a:off x="0" y="1767"/>
          <a:ext cx="6898434" cy="89567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049FED-2417-40DE-AD98-9756768A031C}">
      <dsp:nvSpPr>
        <dsp:cNvPr id="0" name=""/>
        <dsp:cNvSpPr/>
      </dsp:nvSpPr>
      <dsp:spPr>
        <a:xfrm>
          <a:off x="270942" y="203294"/>
          <a:ext cx="492623" cy="492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D2C4C-C995-4FEE-A1B7-92368134F4DC}">
      <dsp:nvSpPr>
        <dsp:cNvPr id="0" name=""/>
        <dsp:cNvSpPr/>
      </dsp:nvSpPr>
      <dsp:spPr>
        <a:xfrm>
          <a:off x="1034508" y="1767"/>
          <a:ext cx="5863925" cy="895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93" tIns="94793" rIns="94793" bIns="947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Enterprise banking architectures are complex and hard for new engineers to grasp.</a:t>
          </a:r>
          <a:endParaRPr lang="en-US" sz="2200" kern="1200"/>
        </a:p>
      </dsp:txBody>
      <dsp:txXfrm>
        <a:off x="1034508" y="1767"/>
        <a:ext cx="5863925" cy="895678"/>
      </dsp:txXfrm>
    </dsp:sp>
    <dsp:sp modelId="{26E27178-9209-4BE0-B1AF-BA518EC84BEA}">
      <dsp:nvSpPr>
        <dsp:cNvPr id="0" name=""/>
        <dsp:cNvSpPr/>
      </dsp:nvSpPr>
      <dsp:spPr>
        <a:xfrm>
          <a:off x="0" y="1121365"/>
          <a:ext cx="6898434" cy="89567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D9C1D-6956-4E30-937F-008E150FD2E9}">
      <dsp:nvSpPr>
        <dsp:cNvPr id="0" name=""/>
        <dsp:cNvSpPr/>
      </dsp:nvSpPr>
      <dsp:spPr>
        <a:xfrm>
          <a:off x="270942" y="1322892"/>
          <a:ext cx="492623" cy="492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0F90E-A803-4024-AEAF-81BC150D376C}">
      <dsp:nvSpPr>
        <dsp:cNvPr id="0" name=""/>
        <dsp:cNvSpPr/>
      </dsp:nvSpPr>
      <dsp:spPr>
        <a:xfrm>
          <a:off x="1034508" y="1121365"/>
          <a:ext cx="5863925" cy="895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93" tIns="94793" rIns="94793" bIns="947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Many technologies and layers interact across the stack.</a:t>
          </a:r>
          <a:endParaRPr lang="en-US" sz="2200" kern="1200"/>
        </a:p>
      </dsp:txBody>
      <dsp:txXfrm>
        <a:off x="1034508" y="1121365"/>
        <a:ext cx="5863925" cy="895678"/>
      </dsp:txXfrm>
    </dsp:sp>
    <dsp:sp modelId="{6DF30C45-2FEC-4EF1-846B-D73A21EA41F8}">
      <dsp:nvSpPr>
        <dsp:cNvPr id="0" name=""/>
        <dsp:cNvSpPr/>
      </dsp:nvSpPr>
      <dsp:spPr>
        <a:xfrm>
          <a:off x="0" y="2240963"/>
          <a:ext cx="6898434" cy="89567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D528E-93A0-4E56-A3AC-4F43AB4BADF6}">
      <dsp:nvSpPr>
        <dsp:cNvPr id="0" name=""/>
        <dsp:cNvSpPr/>
      </dsp:nvSpPr>
      <dsp:spPr>
        <a:xfrm>
          <a:off x="270942" y="2442490"/>
          <a:ext cx="492623" cy="492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EAD92-90C1-4ED3-A3DC-CE06B5057663}">
      <dsp:nvSpPr>
        <dsp:cNvPr id="0" name=""/>
        <dsp:cNvSpPr/>
      </dsp:nvSpPr>
      <dsp:spPr>
        <a:xfrm>
          <a:off x="1034508" y="2240963"/>
          <a:ext cx="5863925" cy="895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93" tIns="94793" rIns="94793" bIns="947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No small, safe environment exists to experiment and learn.</a:t>
          </a:r>
          <a:endParaRPr lang="en-US" sz="2200" kern="1200"/>
        </a:p>
      </dsp:txBody>
      <dsp:txXfrm>
        <a:off x="1034508" y="2240963"/>
        <a:ext cx="5863925" cy="895678"/>
      </dsp:txXfrm>
    </dsp:sp>
    <dsp:sp modelId="{8A091E60-ABB0-4E09-8604-181AF3BF5E88}">
      <dsp:nvSpPr>
        <dsp:cNvPr id="0" name=""/>
        <dsp:cNvSpPr/>
      </dsp:nvSpPr>
      <dsp:spPr>
        <a:xfrm>
          <a:off x="0" y="3360561"/>
          <a:ext cx="6898434" cy="89567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4DD7B7-CB8B-42B0-A628-C52C3F193F9A}">
      <dsp:nvSpPr>
        <dsp:cNvPr id="0" name=""/>
        <dsp:cNvSpPr/>
      </dsp:nvSpPr>
      <dsp:spPr>
        <a:xfrm>
          <a:off x="270942" y="3562088"/>
          <a:ext cx="492623" cy="492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4BA78-FA1F-4A61-B9BA-1FCACDE89F57}">
      <dsp:nvSpPr>
        <dsp:cNvPr id="0" name=""/>
        <dsp:cNvSpPr/>
      </dsp:nvSpPr>
      <dsp:spPr>
        <a:xfrm>
          <a:off x="1034508" y="3360561"/>
          <a:ext cx="5863925" cy="895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793" tIns="94793" rIns="94793" bIns="947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Teams still need analytics-ready outputs.</a:t>
          </a:r>
          <a:endParaRPr lang="en-US" sz="2200" kern="1200"/>
        </a:p>
      </dsp:txBody>
      <dsp:txXfrm>
        <a:off x="1034508" y="3360561"/>
        <a:ext cx="5863925" cy="895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0AD96-3C6C-42D9-9F37-FD6B464E5178}">
      <dsp:nvSpPr>
        <dsp:cNvPr id="0" name=""/>
        <dsp:cNvSpPr/>
      </dsp:nvSpPr>
      <dsp:spPr>
        <a:xfrm>
          <a:off x="1241756" y="336184"/>
          <a:ext cx="709541" cy="7095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528E2-06BB-41EA-8683-F6C83C2298BC}">
      <dsp:nvSpPr>
        <dsp:cNvPr id="0" name=""/>
        <dsp:cNvSpPr/>
      </dsp:nvSpPr>
      <dsp:spPr>
        <a:xfrm>
          <a:off x="808147" y="1301205"/>
          <a:ext cx="1576757" cy="63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Current: </a:t>
          </a:r>
          <a:r>
            <a:rPr lang="en-US" sz="1300" b="0" i="0" kern="1200"/>
            <a:t>synthetic data, local implementation</a:t>
          </a:r>
          <a:endParaRPr lang="en-US" sz="1300" kern="1200"/>
        </a:p>
      </dsp:txBody>
      <dsp:txXfrm>
        <a:off x="808147" y="1301205"/>
        <a:ext cx="1576757" cy="630703"/>
      </dsp:txXfrm>
    </dsp:sp>
    <dsp:sp modelId="{AADA174A-8B15-4D4F-B7B3-7AF109AF2E99}">
      <dsp:nvSpPr>
        <dsp:cNvPr id="0" name=""/>
        <dsp:cNvSpPr/>
      </dsp:nvSpPr>
      <dsp:spPr>
        <a:xfrm>
          <a:off x="3094446" y="336184"/>
          <a:ext cx="709541" cy="7095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8DC13-9551-4B02-9198-C660193D0AD0}">
      <dsp:nvSpPr>
        <dsp:cNvPr id="0" name=""/>
        <dsp:cNvSpPr/>
      </dsp:nvSpPr>
      <dsp:spPr>
        <a:xfrm>
          <a:off x="2660838" y="1301205"/>
          <a:ext cx="1576757" cy="63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Target: </a:t>
          </a:r>
          <a:r>
            <a:rPr lang="en-US" sz="1300" b="0" i="0" kern="1200"/>
            <a:t>real Teradata ingestion &amp; AWS S3 integration</a:t>
          </a:r>
          <a:endParaRPr lang="en-US" sz="1300" kern="1200"/>
        </a:p>
      </dsp:txBody>
      <dsp:txXfrm>
        <a:off x="2660838" y="1301205"/>
        <a:ext cx="1576757" cy="630703"/>
      </dsp:txXfrm>
    </dsp:sp>
    <dsp:sp modelId="{6C89ADA0-5A94-4A7F-A214-A56FBF1C3E1A}">
      <dsp:nvSpPr>
        <dsp:cNvPr id="0" name=""/>
        <dsp:cNvSpPr/>
      </dsp:nvSpPr>
      <dsp:spPr>
        <a:xfrm>
          <a:off x="4947136" y="336184"/>
          <a:ext cx="709541" cy="7095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67AD9-4326-4899-9033-AF523C675517}">
      <dsp:nvSpPr>
        <dsp:cNvPr id="0" name=""/>
        <dsp:cNvSpPr/>
      </dsp:nvSpPr>
      <dsp:spPr>
        <a:xfrm>
          <a:off x="4513528" y="1301205"/>
          <a:ext cx="1576757" cy="63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Workflow scheduling &amp; Hive metadata management</a:t>
          </a:r>
          <a:endParaRPr lang="en-US" sz="1300" kern="1200"/>
        </a:p>
      </dsp:txBody>
      <dsp:txXfrm>
        <a:off x="4513528" y="1301205"/>
        <a:ext cx="1576757" cy="630703"/>
      </dsp:txXfrm>
    </dsp:sp>
    <dsp:sp modelId="{70B059BE-8B2A-40B9-BCE3-D6CBEBF3DD4E}">
      <dsp:nvSpPr>
        <dsp:cNvPr id="0" name=""/>
        <dsp:cNvSpPr/>
      </dsp:nvSpPr>
      <dsp:spPr>
        <a:xfrm>
          <a:off x="2168101" y="2326098"/>
          <a:ext cx="709541" cy="7095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65F2B6-762D-4D7E-91F6-00DCAA180FD8}">
      <dsp:nvSpPr>
        <dsp:cNvPr id="0" name=""/>
        <dsp:cNvSpPr/>
      </dsp:nvSpPr>
      <dsp:spPr>
        <a:xfrm>
          <a:off x="1734492" y="3291119"/>
          <a:ext cx="1576757" cy="63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Enterprise Data Lake with Cloudera AI</a:t>
          </a:r>
          <a:endParaRPr lang="en-US" sz="1300" kern="1200"/>
        </a:p>
      </dsp:txBody>
      <dsp:txXfrm>
        <a:off x="1734492" y="3291119"/>
        <a:ext cx="1576757" cy="630703"/>
      </dsp:txXfrm>
    </dsp:sp>
    <dsp:sp modelId="{582E2716-688A-4780-AB0D-EDAFC3070589}">
      <dsp:nvSpPr>
        <dsp:cNvPr id="0" name=""/>
        <dsp:cNvSpPr/>
      </dsp:nvSpPr>
      <dsp:spPr>
        <a:xfrm>
          <a:off x="4020791" y="2326098"/>
          <a:ext cx="709541" cy="7095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F671B-D2C0-4F8B-BC8E-E64D22AE08FE}">
      <dsp:nvSpPr>
        <dsp:cNvPr id="0" name=""/>
        <dsp:cNvSpPr/>
      </dsp:nvSpPr>
      <dsp:spPr>
        <a:xfrm>
          <a:off x="3587183" y="3291119"/>
          <a:ext cx="1576757" cy="63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Governance and monitoring</a:t>
          </a:r>
          <a:endParaRPr lang="en-US" sz="1300" kern="1200"/>
        </a:p>
      </dsp:txBody>
      <dsp:txXfrm>
        <a:off x="3587183" y="3291119"/>
        <a:ext cx="1576757" cy="630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E853440-0782-1D68-D2FD-933DEA3367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BAE373-49AC-5B9F-BD8D-665F4397E9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787D-70D5-9549-AC5E-9D4C1BFA0564}" type="datetimeFigureOut">
              <a:rPr lang="en-US" smtClean="0">
                <a:latin typeface="Arial" panose="020B0604020202020204" pitchFamily="34" charset="0"/>
              </a:rPr>
              <a:t>7/8/2026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D5359E-0814-051B-B036-A156852593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2F9671-5EF1-8E9F-DD2A-21863ED219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2F477-6371-B744-A7EB-E94ECCEEDA65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209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FBA1538-8606-2D42-9B67-EB3CAAF1E29B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F681651-9904-804F-8355-78350773C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9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189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377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566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754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35A8-8BE1-E656-528E-A62ADAAE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822B9-3F2D-3618-3950-7EFDCC685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FA9B1-FCB3-945F-01E6-FFA93DC1A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   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9EAFD-8DB4-7922-5306-42A13D9C9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890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06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75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038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25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88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2698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097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56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65857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6597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462864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6784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41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74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7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Arial" panose="020B0604020202020204" pitchFamily="34" charset="0"/>
              </a:defRPr>
            </a:lvl1pPr>
            <a:lvl2pPr>
              <a:defRPr sz="1400" b="0" i="0">
                <a:latin typeface="Arial" panose="020B0604020202020204" pitchFamily="34" charset="0"/>
              </a:defRPr>
            </a:lvl2pPr>
            <a:lvl3pPr>
              <a:defRPr sz="1400" b="0" i="0">
                <a:latin typeface="Arial" panose="020B0604020202020204" pitchFamily="34" charset="0"/>
              </a:defRPr>
            </a:lvl3pPr>
            <a:lvl4pPr>
              <a:defRPr sz="1050" b="0" i="0">
                <a:latin typeface="Arial" panose="020B0604020202020204" pitchFamily="34" charset="0"/>
              </a:defRPr>
            </a:lvl4pPr>
            <a:lvl5pPr>
              <a:defRPr sz="105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  <a:lvl7pPr>
              <a:defRPr sz="1100" b="0" i="0">
                <a:latin typeface="Arial" panose="020B0604020202020204" pitchFamily="34" charset="0"/>
              </a:defRPr>
            </a:lvl7pPr>
            <a:lvl9pPr>
              <a:defRPr sz="1100" b="0" i="0"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378140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105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105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 sz="1100" b="0" i="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9pPr>
              <a:defRPr sz="1100" b="0" i="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73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9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2508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Arial" panose="020B0604020202020204" pitchFamily="34" charset="0"/>
              </a:defRPr>
            </a:lvl1pPr>
            <a:lvl2pPr>
              <a:defRPr sz="1400" b="0" i="0">
                <a:latin typeface="Arial" panose="020B0604020202020204" pitchFamily="34" charset="0"/>
              </a:defRPr>
            </a:lvl2pPr>
            <a:lvl3pPr>
              <a:defRPr sz="1400" b="0" i="0">
                <a:latin typeface="Arial" panose="020B0604020202020204" pitchFamily="34" charset="0"/>
              </a:defRPr>
            </a:lvl3pPr>
            <a:lvl4pPr>
              <a:defRPr sz="1050" b="0" i="0">
                <a:latin typeface="Arial" panose="020B0604020202020204" pitchFamily="34" charset="0"/>
              </a:defRPr>
            </a:lvl4pPr>
            <a:lvl5pPr>
              <a:defRPr sz="105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  <a:lvl7pPr>
              <a:defRPr sz="1100" b="0" i="0">
                <a:latin typeface="Arial" panose="020B0604020202020204" pitchFamily="34" charset="0"/>
              </a:defRPr>
            </a:lvl7pPr>
            <a:lvl9pPr>
              <a:defRPr sz="1100" b="0" i="0"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3327608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 userDrawn="1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9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908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 userDrawn="1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474107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214261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599"/>
            <a:ext cx="4958430" cy="8625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1682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646546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179670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6150898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2860541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47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87942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396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81824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946366"/>
            <a:ext cx="4489017" cy="257258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256795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750423"/>
            <a:ext cx="4489017" cy="29644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6653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920240"/>
            <a:ext cx="4489017" cy="262483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7513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802674"/>
            <a:ext cx="5098087" cy="2859966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5997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473895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325189"/>
            <a:ext cx="7200000" cy="2207620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Arial" panose="020B0604020202020204" pitchFamily="34" charset="0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501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C35EA4"/>
          </p15:clr>
        </p15:guide>
        <p15:guide id="2" pos="2880" userDrawn="1">
          <p15:clr>
            <a:srgbClr val="C35EA4"/>
          </p15:clr>
        </p15:guide>
        <p15:guide id="3" orient="horz" pos="2707" userDrawn="1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312126"/>
            <a:ext cx="7200000" cy="223374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285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502942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 userDrawn="1">
          <p15:clr>
            <a:srgbClr val="C35EA4"/>
          </p15:clr>
        </p15:guide>
        <p15:guide id="2" orient="horz" pos="699" userDrawn="1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209298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070580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 userDrawn="1">
          <p15:clr>
            <a:srgbClr val="C35E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86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 userDrawn="1">
          <p15:clr>
            <a:srgbClr val="C35E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783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 userDrawn="1">
          <p15:clr>
            <a:srgbClr val="C35E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604020202020204" pitchFamily="34" charset="0"/>
              </a:defRPr>
            </a:lvl2pPr>
            <a:lvl3pPr>
              <a:defRPr sz="1600" b="0" i="0">
                <a:latin typeface="Arial" panose="020B0604020202020204" pitchFamily="34" charset="0"/>
              </a:defRPr>
            </a:lvl3pPr>
            <a:lvl4pPr>
              <a:defRPr sz="1400" b="0" i="0">
                <a:latin typeface="Arial" panose="020B0604020202020204" pitchFamily="34" charset="0"/>
              </a:defRPr>
            </a:lvl4pPr>
            <a:lvl5pPr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117556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604020202020204" pitchFamily="34" charset="0"/>
              </a:defRPr>
            </a:lvl2pPr>
            <a:lvl3pPr>
              <a:defRPr sz="1600" b="0" i="0">
                <a:latin typeface="Arial" panose="020B0604020202020204" pitchFamily="34" charset="0"/>
              </a:defRPr>
            </a:lvl3pPr>
            <a:lvl4pPr>
              <a:defRPr sz="1400" b="0" i="0">
                <a:latin typeface="Arial" panose="020B0604020202020204" pitchFamily="34" charset="0"/>
              </a:defRPr>
            </a:lvl4pPr>
            <a:lvl5pPr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069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Arial" panose="020B0604020202020204" pitchFamily="34" charset="0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46049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Arial" panose="020B0604020202020204" pitchFamily="34" charset="0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200149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Arial" panose="020B0604020202020204" pitchFamily="34" charset="0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747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037627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Arial</a:t>
            </a:r>
            <a:r>
              <a:rPr lang="en-US"/>
              <a:t> 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5579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Arial</a:t>
            </a:r>
            <a:r>
              <a:rPr lang="en-US"/>
              <a:t> 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56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8698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35FC628-50A5-B1A6-05ED-725C3D17E4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461" y="472551"/>
            <a:ext cx="2285996" cy="820674"/>
          </a:xfrm>
        </p:spPr>
        <p:txBody>
          <a:bodyPr tIns="0" anchor="ctr">
            <a:spAutoFit/>
          </a:bodyPr>
          <a:lstStyle>
            <a:lvl1pPr marL="0" indent="0"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00x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90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>
            <a:extLst>
              <a:ext uri="{FF2B5EF4-FFF2-40B4-BE49-F238E27FC236}">
                <a16:creationId xmlns:a16="http://schemas.microsoft.com/office/drawing/2014/main" id="{0CDE8D91-A0EC-6264-EF38-70D727355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461" y="397304"/>
            <a:ext cx="2285996" cy="910593"/>
          </a:xfrm>
        </p:spPr>
        <p:txBody>
          <a:bodyPr anchor="ctr">
            <a:noAutofit/>
          </a:bodyPr>
          <a:lstStyle>
            <a:lvl1pPr marL="0" indent="0"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00x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147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tx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tx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687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C35E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tx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tx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193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52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1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890" r:id="rId2"/>
    <p:sldLayoutId id="2147483893" r:id="rId3"/>
    <p:sldLayoutId id="2147483772" r:id="rId4"/>
    <p:sldLayoutId id="2147483897" r:id="rId5"/>
    <p:sldLayoutId id="2147483777" r:id="rId6"/>
    <p:sldLayoutId id="2147483799" r:id="rId7"/>
    <p:sldLayoutId id="2147483871" r:id="rId8"/>
    <p:sldLayoutId id="2147483872" r:id="rId9"/>
    <p:sldLayoutId id="2147483761" r:id="rId10"/>
    <p:sldLayoutId id="2147483760" r:id="rId11"/>
    <p:sldLayoutId id="2147483882" r:id="rId12"/>
    <p:sldLayoutId id="2147483849" r:id="rId13"/>
    <p:sldLayoutId id="2147483867" r:id="rId14"/>
    <p:sldLayoutId id="2147483879" r:id="rId15"/>
    <p:sldLayoutId id="2147483878" r:id="rId16"/>
    <p:sldLayoutId id="2147483649" r:id="rId17"/>
    <p:sldLayoutId id="2147483778" r:id="rId18"/>
    <p:sldLayoutId id="2147483864" r:id="rId19"/>
    <p:sldLayoutId id="2147483779" r:id="rId20"/>
    <p:sldLayoutId id="2147483865" r:id="rId21"/>
    <p:sldLayoutId id="2147483837" r:id="rId22"/>
    <p:sldLayoutId id="2147483781" r:id="rId23"/>
    <p:sldLayoutId id="2147483782" r:id="rId24"/>
    <p:sldLayoutId id="2147483783" r:id="rId25"/>
    <p:sldLayoutId id="2147483784" r:id="rId26"/>
    <p:sldLayoutId id="2147483876" r:id="rId27"/>
    <p:sldLayoutId id="2147483880" r:id="rId28"/>
    <p:sldLayoutId id="2147483873" r:id="rId29"/>
    <p:sldLayoutId id="2147483868" r:id="rId30"/>
    <p:sldLayoutId id="2147483869" r:id="rId31"/>
    <p:sldLayoutId id="2147483883" r:id="rId32"/>
    <p:sldLayoutId id="2147483861" r:id="rId33"/>
    <p:sldLayoutId id="2147483851" r:id="rId34"/>
    <p:sldLayoutId id="2147483792" r:id="rId35"/>
    <p:sldLayoutId id="2147483793" r:id="rId36"/>
    <p:sldLayoutId id="2147483875" r:id="rId37"/>
    <p:sldLayoutId id="2147483845" r:id="rId38"/>
    <p:sldLayoutId id="2147483857" r:id="rId39"/>
    <p:sldLayoutId id="2147483855" r:id="rId40"/>
    <p:sldLayoutId id="2147483786" r:id="rId41"/>
    <p:sldLayoutId id="2147483787" r:id="rId42"/>
    <p:sldLayoutId id="2147483788" r:id="rId43"/>
    <p:sldLayoutId id="2147483858" r:id="rId44"/>
    <p:sldLayoutId id="2147483854" r:id="rId45"/>
    <p:sldLayoutId id="2147483866" r:id="rId46"/>
    <p:sldLayoutId id="2147483790" r:id="rId47"/>
    <p:sldLayoutId id="2147483791" r:id="rId48"/>
    <p:sldLayoutId id="2147483863" r:id="rId49"/>
    <p:sldLayoutId id="2147483877" r:id="rId50"/>
    <p:sldLayoutId id="2147483795" r:id="rId51"/>
    <p:sldLayoutId id="2147483862" r:id="rId52"/>
    <p:sldLayoutId id="2147483794" r:id="rId53"/>
    <p:sldLayoutId id="2147483860" r:id="rId54"/>
    <p:sldLayoutId id="2147483838" r:id="rId55"/>
    <p:sldLayoutId id="2147483833" r:id="rId56"/>
    <p:sldLayoutId id="21474838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5ACBF0"/>
          </p15:clr>
        </p15:guide>
        <p15:guide id="8" pos="347" userDrawn="1">
          <p15:clr>
            <a:srgbClr val="9FCC3B"/>
          </p15:clr>
        </p15:guide>
        <p15:guide id="9" pos="733" userDrawn="1">
          <p15:clr>
            <a:srgbClr val="C35EA4"/>
          </p15:clr>
        </p15:guide>
        <p15:guide id="10" pos="7514" userDrawn="1">
          <p15:clr>
            <a:srgbClr val="5ACBF0"/>
          </p15:clr>
        </p15:guide>
        <p15:guide id="11" pos="166" userDrawn="1">
          <p15:clr>
            <a:srgbClr val="5ACBF0"/>
          </p15:clr>
        </p15:guide>
        <p15:guide id="12" orient="horz" pos="4156" userDrawn="1">
          <p15:clr>
            <a:srgbClr val="5ACBF0"/>
          </p15:clr>
        </p15:guide>
        <p15:guide id="13" pos="7333" userDrawn="1">
          <p15:clr>
            <a:srgbClr val="9FCC3B"/>
          </p15:clr>
        </p15:guide>
        <p15:guide id="14" orient="horz" pos="346" userDrawn="1">
          <p15:clr>
            <a:srgbClr val="9FCC3B"/>
          </p15:clr>
        </p15:guide>
        <p15:guide id="15" orient="horz" pos="3974" userDrawn="1">
          <p15:clr>
            <a:srgbClr val="9FCC3B"/>
          </p15:clr>
        </p15:guide>
        <p15:guide id="16" orient="horz" pos="845" userDrawn="1">
          <p15:clr>
            <a:srgbClr val="A4A3A4"/>
          </p15:clr>
        </p15:guide>
        <p15:guide id="17" orient="horz" pos="3861" userDrawn="1">
          <p15:clr>
            <a:srgbClr val="A4A3A4"/>
          </p15:clr>
        </p15:guide>
        <p15:guide id="18" pos="6924" userDrawn="1">
          <p15:clr>
            <a:srgbClr val="C35EA4"/>
          </p15:clr>
        </p15:guide>
        <p15:guide id="19" orient="horz" pos="1162" userDrawn="1">
          <p15:clr>
            <a:srgbClr val="FDE53C"/>
          </p15:clr>
        </p15:guide>
        <p15:guide id="20" pos="7015" userDrawn="1">
          <p15:clr>
            <a:srgbClr val="F26B43"/>
          </p15:clr>
        </p15:guide>
        <p15:guide id="21" pos="6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acia.edu/blog/the-power-of-peer-collaboration-building-professional-learning-communities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75ABE-5368-87B3-651B-98B15D94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7434745" cy="1329595"/>
          </a:xfrm>
        </p:spPr>
        <p:txBody>
          <a:bodyPr/>
          <a:lstStyle/>
          <a:p>
            <a:r>
              <a:rPr lang="en-US" dirty="0"/>
              <a:t>Banking Data Simulation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DA55E-4B09-4626-14C9-24A227847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BOI Data Factory IDL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CC33E-12CF-1B9F-C476-4CDDA827D3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/>
              <a:t>Interns:</a:t>
            </a:r>
            <a:r>
              <a:rPr lang="en-US" dirty="0"/>
              <a:t> </a:t>
            </a:r>
            <a:r>
              <a:rPr lang="en-US" i="1" dirty="0"/>
              <a:t>Debshata Choudhury, Anmol Gupta</a:t>
            </a:r>
            <a:br>
              <a:rPr lang="en-US" dirty="0"/>
            </a:br>
            <a:r>
              <a:rPr lang="en-US" b="1" dirty="0"/>
              <a:t>Project Buddy:</a:t>
            </a:r>
            <a:r>
              <a:rPr lang="en-US" dirty="0"/>
              <a:t> </a:t>
            </a:r>
            <a:r>
              <a:rPr lang="en-US" i="1" dirty="0"/>
              <a:t>Karan P. Singh</a:t>
            </a:r>
          </a:p>
        </p:txBody>
      </p:sp>
    </p:spTree>
    <p:extLst>
      <p:ext uri="{BB962C8B-B14F-4D97-AF65-F5344CB8AC3E}">
        <p14:creationId xmlns:p14="http://schemas.microsoft.com/office/powerpoint/2010/main" val="271975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ow Card 1"/>
          <p:cNvSpPr/>
          <p:nvPr/>
        </p:nvSpPr>
        <p:spPr>
          <a:xfrm>
            <a:off x="380000" y="2380000"/>
            <a:ext cx="11450000" cy="960000"/>
          </a:xfrm>
          <a:prstGeom prst="roundRect">
            <a:avLst>
              <a:gd name="adj" fmla="val 7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ow Card 2"/>
          <p:cNvSpPr/>
          <p:nvPr/>
        </p:nvSpPr>
        <p:spPr>
          <a:xfrm>
            <a:off x="380000" y="3388000"/>
            <a:ext cx="11450000" cy="960000"/>
          </a:xfrm>
          <a:prstGeom prst="roundRect">
            <a:avLst>
              <a:gd name="adj" fmla="val 7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Row Card 3"/>
          <p:cNvSpPr/>
          <p:nvPr/>
        </p:nvSpPr>
        <p:spPr>
          <a:xfrm>
            <a:off x="380000" y="4407000"/>
            <a:ext cx="11450000" cy="960000"/>
          </a:xfrm>
          <a:prstGeom prst="roundRect">
            <a:avLst>
              <a:gd name="adj" fmla="val 7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ow Card 4"/>
          <p:cNvSpPr/>
          <p:nvPr/>
        </p:nvSpPr>
        <p:spPr>
          <a:xfrm>
            <a:off x="380000" y="5404000"/>
            <a:ext cx="11450000" cy="960000"/>
          </a:xfrm>
          <a:prstGeom prst="roundRect">
            <a:avLst>
              <a:gd name="adj" fmla="val 7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73A4D07-01FD-6636-EA94-05BDC8DAF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</p:spPr>
        <p:txBody>
          <a:bodyPr/>
          <a:lstStyle/>
          <a:p>
            <a:r>
              <a:rPr kumimoji="0" lang="en-US" sz="32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Understanding the Client Architecture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976FD87-43C9-6DAD-BE46-0010614A72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3411" y="1390295"/>
            <a:ext cx="4958430" cy="384048"/>
          </a:xfrm>
        </p:spPr>
        <p:txBody>
          <a:bodyPr/>
          <a:lstStyle/>
          <a:p>
            <a:r>
              <a:rPr lang="en-US" dirty="0"/>
              <a:t>How a large-scale banking data ecosystem operates - our starting point before building anything</a:t>
            </a:r>
            <a:endParaRPr lang="en-AR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8DB19BE-0707-388E-1BD9-8493DA0D3114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563411" y="2527859"/>
            <a:ext cx="2510646" cy="732360"/>
          </a:xfrm>
        </p:spPr>
        <p:txBody>
          <a:bodyPr/>
          <a:lstStyle/>
          <a:p>
            <a:r>
              <a:rPr lang="en-AR"/>
              <a:t>Cloud &amp; Storage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48C5BAC-CDC7-20CC-D7FD-F976B8C0CC5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43153" y="2525284"/>
            <a:ext cx="3535873" cy="734935"/>
          </a:xfrm>
        </p:spPr>
        <p:txBody>
          <a:bodyPr/>
          <a:lstStyle/>
          <a:p>
            <a:r>
              <a:rPr lang="en-US"/>
              <a:t>AWS CSSP with an S3-based Enterprise Data Lake for elastic compute and storage</a:t>
            </a:r>
            <a:endParaRPr lang="en-AR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ACA093B-69B9-89F5-0834-2780FB614164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9948122" y="2527859"/>
            <a:ext cx="1680467" cy="732360"/>
          </a:xfrm>
        </p:spPr>
        <p:txBody>
          <a:bodyPr/>
          <a:lstStyle/>
          <a:p>
            <a:r>
              <a:rPr lang="en-AR"/>
              <a:t>Scalable cloud backbone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519703D-28A6-0E79-FCB9-947FAD4EB1B8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575960" y="3541109"/>
            <a:ext cx="2510646" cy="732360"/>
          </a:xfrm>
        </p:spPr>
        <p:txBody>
          <a:bodyPr/>
          <a:lstStyle/>
          <a:p>
            <a:r>
              <a:rPr lang="en-AR"/>
              <a:t>Data Engineering Platform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E8CD2FF-B907-5D01-63FA-4D87F7F25F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5702" y="3538534"/>
            <a:ext cx="3535873" cy="734935"/>
          </a:xfrm>
        </p:spPr>
        <p:txBody>
          <a:bodyPr/>
          <a:lstStyle/>
          <a:p>
            <a:r>
              <a:rPr lang="en-US"/>
              <a:t>Cloudera with the Hadoop and Hive ecosystem for distributed big-data processing</a:t>
            </a:r>
            <a:endParaRPr lang="en-AR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93119AE-66DB-787F-C171-5BD32F0D5AF8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9960671" y="3541109"/>
            <a:ext cx="1680467" cy="732360"/>
          </a:xfrm>
        </p:spPr>
        <p:txBody>
          <a:bodyPr/>
          <a:lstStyle/>
          <a:p>
            <a:r>
              <a:rPr lang="en-AR"/>
              <a:t>Enterprise-grade processing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535CA94-BE4F-E31E-5B44-BEE2E3C8518A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575959" y="4543321"/>
            <a:ext cx="2510646" cy="732360"/>
          </a:xfrm>
        </p:spPr>
        <p:txBody>
          <a:bodyPr/>
          <a:lstStyle/>
          <a:p>
            <a:r>
              <a:rPr lang="en-AR"/>
              <a:t>Sources &amp; Integration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0E6A1B7-A3C8-26D6-B28E-390C7527BCF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5701" y="4540746"/>
            <a:ext cx="3535873" cy="734935"/>
          </a:xfrm>
        </p:spPr>
        <p:txBody>
          <a:bodyPr/>
          <a:lstStyle/>
          <a:p>
            <a:r>
              <a:rPr lang="en-US"/>
              <a:t>Teradata warehouse feeding data through MuleSoft integration services</a:t>
            </a:r>
            <a:endParaRPr lang="en-AR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5FAC2A3-0EF0-D240-AB3B-63BBB7B9AA0F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9960670" y="4543321"/>
            <a:ext cx="1680467" cy="732360"/>
          </a:xfrm>
        </p:spPr>
        <p:txBody>
          <a:bodyPr/>
          <a:lstStyle/>
          <a:p>
            <a:r>
              <a:rPr lang="en-AR"/>
              <a:t>Governed data ingestion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179240E-1225-8621-6FE1-1265D42FF6E1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88508" y="5556571"/>
            <a:ext cx="2510646" cy="732360"/>
          </a:xfrm>
        </p:spPr>
        <p:txBody>
          <a:bodyPr/>
          <a:lstStyle/>
          <a:p>
            <a:r>
              <a:rPr lang="en-AR"/>
              <a:t>Analytics &amp; Security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04063FB-BD29-1D44-5A83-0D45B04C8CF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768250" y="5553996"/>
            <a:ext cx="3535873" cy="734935"/>
          </a:xfrm>
        </p:spPr>
        <p:txBody>
          <a:bodyPr/>
          <a:lstStyle/>
          <a:p>
            <a:r>
              <a:rPr lang="en-US"/>
              <a:t>Tableau delivers dashboards while Azure Active Directory secures access</a:t>
            </a:r>
            <a:endParaRPr lang="en-AR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74360F3-FDC4-6046-4032-F905F05B8EF4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9973219" y="5556571"/>
            <a:ext cx="1680467" cy="732360"/>
          </a:xfrm>
        </p:spPr>
        <p:txBody>
          <a:bodyPr/>
          <a:lstStyle/>
          <a:p>
            <a:r>
              <a:rPr lang="en-AR"/>
              <a:t>Trusted, secure insights</a:t>
            </a:r>
          </a:p>
        </p:txBody>
      </p:sp>
    </p:spTree>
    <p:extLst>
      <p:ext uri="{BB962C8B-B14F-4D97-AF65-F5344CB8AC3E}">
        <p14:creationId xmlns:p14="http://schemas.microsoft.com/office/powerpoint/2010/main" val="272127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3FDF-30CF-378E-8818-2B8B3600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20B3856-2A92-9117-0477-D0DE700E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97304"/>
            <a:ext cx="2285996" cy="910593"/>
          </a:xfrm>
        </p:spPr>
        <p:txBody>
          <a:bodyPr wrap="square" anchor="ctr">
            <a:normAutofit/>
          </a:bodyPr>
          <a:lstStyle/>
          <a:p>
            <a:r>
              <a:rPr lang="en-US" sz="1700" noProof="0"/>
              <a:t>From Complex Architecture to Simplified Simulation</a:t>
            </a:r>
            <a:endParaRPr lang="en-US" sz="170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D2599C0-964B-62EB-3824-7C007ABF41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5461" y="3254151"/>
            <a:ext cx="2285996" cy="912223"/>
          </a:xfrm>
        </p:spPr>
        <p:txBody>
          <a:bodyPr anchor="ctr">
            <a:normAutofit/>
          </a:bodyPr>
          <a:lstStyle/>
          <a:p>
            <a:r>
              <a:rPr lang="en-US" dirty="0"/>
              <a:t>02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10CFBB-6889-F1B2-215C-A25546F252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28995" y="302347"/>
            <a:ext cx="2285996" cy="912223"/>
          </a:xfrm>
        </p:spPr>
        <p:txBody>
          <a:bodyPr anchor="ctr">
            <a:normAutofit/>
          </a:bodyPr>
          <a:lstStyle/>
          <a:p>
            <a:r>
              <a:rPr lang="en-GB" dirty="0"/>
              <a:t>01</a:t>
            </a:r>
            <a:endParaRPr lang="en-US" dirty="0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CC994EE-AC0A-659F-774D-D33B87374E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8995" y="3398051"/>
            <a:ext cx="2285996" cy="91222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300"/>
              <a:t>We recreated the concepts and data flow - not the production complexity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AAACF51-2A43-B192-BDD1-A5C9BB769F8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4" y="1316511"/>
            <a:ext cx="2667005" cy="1439333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Teradata banking sources</a:t>
            </a: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AWS S3 storage layer</a:t>
            </a: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Cloudera data engineering</a:t>
            </a: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Enterprise Data Lake</a:t>
            </a: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Tableau dashboards</a:t>
            </a:r>
            <a:endParaRPr lang="en-US" sz="15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C3FD-75DB-86B3-9F42-8D139F364D8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95" y="4297118"/>
            <a:ext cx="3048016" cy="1439333"/>
          </a:xfrm>
        </p:spPr>
        <p:txBody>
          <a:bodyPr>
            <a:noAutofit/>
          </a:bodyPr>
          <a:lstStyle/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Synthetic banking sources</a:t>
            </a: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Local storage layer</a:t>
            </a: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PySpark &amp; Delta Lake engine</a:t>
            </a: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Bronze-Silver-Gold data lake</a:t>
            </a: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Power BI dashboard</a:t>
            </a:r>
            <a:endParaRPr lang="en-US" sz="15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72A4C2-8A80-6079-AF21-90EFB5CD0D9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5461" y="4508499"/>
            <a:ext cx="2286000" cy="1439333"/>
          </a:xfrm>
        </p:spPr>
        <p:txBody>
          <a:bodyPr>
            <a:normAutofit/>
          </a:bodyPr>
          <a:lstStyle/>
          <a:p>
            <a:r>
              <a:rPr lang="en-GB" dirty="0"/>
              <a:t>Our Simulation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CDFECD-EC7A-2FF7-E062-3466D04324F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>
            <a:normAutofit/>
          </a:bodyPr>
          <a:lstStyle/>
          <a:p>
            <a:r>
              <a:rPr lang="en-GB"/>
              <a:t>Client Architecture</a:t>
            </a:r>
          </a:p>
        </p:txBody>
      </p:sp>
      <p:pic>
        <p:nvPicPr>
          <p:cNvPr id="2050" name="Picture 2" descr="PlantUML diagram">
            <a:extLst>
              <a:ext uri="{FF2B5EF4-FFF2-40B4-BE49-F238E27FC236}">
                <a16:creationId xmlns:a16="http://schemas.microsoft.com/office/drawing/2014/main" id="{817F4152-5EA9-2CDD-FB1D-97A1E942A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244" y="0"/>
            <a:ext cx="4242253" cy="613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991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5DE7E9C0-5F10-8C06-4E8C-82632B8B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64" y="495330"/>
            <a:ext cx="11084672" cy="393954"/>
          </a:xfrm>
        </p:spPr>
        <p:txBody>
          <a:bodyPr/>
          <a:lstStyle/>
          <a:p>
            <a:pPr algn="ctr"/>
            <a:r>
              <a:rPr lang="en-US" dirty="0"/>
              <a:t>Banking Data Project Simulation</a:t>
            </a:r>
          </a:p>
        </p:txBody>
      </p:sp>
      <p:pic>
        <p:nvPicPr>
          <p:cNvPr id="1030" name="Picture 6" descr="PlantUML diagram">
            <a:extLst>
              <a:ext uri="{FF2B5EF4-FFF2-40B4-BE49-F238E27FC236}">
                <a16:creationId xmlns:a16="http://schemas.microsoft.com/office/drawing/2014/main" id="{F785731A-12B9-F130-CE25-46BF9F8FC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6621"/>
            <a:ext cx="12192000" cy="360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24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CE286-D7D3-E2C7-1740-4CF1AFC3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A89B15D4-8B3A-816B-02CB-311940D5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 wrap="square" anchor="t">
            <a:normAutofit/>
          </a:bodyPr>
          <a:lstStyle/>
          <a:p>
            <a:r>
              <a:rPr lang="en-US"/>
              <a:t>The Problem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DAC31B0-5527-7533-D8BD-6A9A0B56073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92709" y="2254789"/>
            <a:ext cx="3148429" cy="39992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A100FF"/>
                </a:solidFill>
              </a:rPr>
              <a:t>&gt;  </a:t>
            </a:r>
            <a:r>
              <a:rPr lang="en-US" b="1"/>
              <a:t>Large architecture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D7E95F1-98AC-35AC-E3C2-7F111AB239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492709" y="3223267"/>
            <a:ext cx="3148429" cy="39992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A100FF"/>
                </a:solidFill>
              </a:rPr>
              <a:t>&gt;  </a:t>
            </a:r>
            <a:r>
              <a:rPr lang="en-US" b="1"/>
              <a:t>Rising complexity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58CFCFD-040F-B06B-8E54-36B103947C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492709" y="4191745"/>
            <a:ext cx="3148429" cy="39992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A100FF"/>
                </a:solidFill>
              </a:rPr>
              <a:t>&gt;  </a:t>
            </a:r>
            <a:r>
              <a:rPr lang="en-US" b="1"/>
              <a:t>Learning gap</a:t>
            </a:r>
          </a:p>
        </p:txBody>
      </p:sp>
      <p:graphicFrame>
        <p:nvGraphicFramePr>
          <p:cNvPr id="19" name="Marcador de contenido 2">
            <a:extLst>
              <a:ext uri="{FF2B5EF4-FFF2-40B4-BE49-F238E27FC236}">
                <a16:creationId xmlns:a16="http://schemas.microsoft.com/office/drawing/2014/main" id="{AAEDF250-9640-9206-09FE-176043615FB3}"/>
              </a:ext>
            </a:extLst>
          </p:cNvPr>
          <p:cNvGraphicFramePr>
            <a:graphicFrameLocks noGrp="1"/>
          </p:cNvGraphicFramePr>
          <p:nvPr>
            <p:ph sz="half" idx="23"/>
            <p:extLst>
              <p:ext uri="{D42A27DB-BD31-4B8C-83A1-F6EECF244321}">
                <p14:modId xmlns:p14="http://schemas.microsoft.com/office/powerpoint/2010/main" val="561166011"/>
              </p:ext>
            </p:extLst>
          </p:nvPr>
        </p:nvGraphicFramePr>
        <p:xfrm>
          <a:off x="563411" y="1871331"/>
          <a:ext cx="6898434" cy="4258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720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17092-E458-27D6-141E-BA4D2F73F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0B2BF-D672-9845-4939-9C733D6C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b="1" i="0" kern="1200">
                <a:latin typeface="Arial" panose="020B0604020202020204" pitchFamily="34" charset="0"/>
                <a:ea typeface="+mj-ea"/>
                <a:cs typeface="+mj-cs"/>
              </a:rPr>
              <a:t>Action - Sprint Execution &amp; Burndown</a:t>
            </a:r>
          </a:p>
        </p:txBody>
      </p:sp>
      <p:sp>
        <p:nvSpPr>
          <p:cNvPr id="210" name="Sprint Panel"/>
          <p:cNvSpPr>
            <a:spLocks noGrp="1"/>
          </p:cNvSpPr>
          <p:nvPr/>
        </p:nvSpPr>
        <p:spPr>
          <a:xfrm>
            <a:off x="563411" y="1844675"/>
            <a:ext cx="5366829" cy="42846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rmAutofit/>
          </a:bodyPr>
          <a:lstStyle/>
          <a:p>
            <a:pPr defTabSz="228594">
              <a:spcAft>
                <a:spcPts val="600"/>
              </a:spcAft>
            </a:pPr>
            <a:r>
              <a:rPr lang="en-US" sz="1600" b="1">
                <a:solidFill>
                  <a:schemeClr val="accent1"/>
                </a:solidFill>
                <a:latin typeface="Arial" panose="020B0604020202020204" pitchFamily="34" charset="0"/>
              </a:rPr>
              <a:t>Sprint 1 · Jun 18-21</a:t>
            </a:r>
          </a:p>
          <a:p>
            <a:pPr defTabSz="228594">
              <a:spcAft>
                <a:spcPts val="600"/>
              </a:spcAft>
            </a:pPr>
            <a:r>
              <a:rPr lang="en-US" sz="1400" i="1">
                <a:latin typeface="Arial" panose="020B0604020202020204" pitchFamily="34" charset="0"/>
              </a:rPr>
              <a:t>Setup, synthetic data, ingestion</a:t>
            </a:r>
          </a:p>
          <a:p>
            <a:pPr defTabSz="228594">
              <a:spcAft>
                <a:spcPts val="600"/>
              </a:spcAft>
            </a:pPr>
            <a:endParaRPr lang="en-US" sz="1400" dirty="0">
              <a:latin typeface="Arial" panose="020B0604020202020204" pitchFamily="34" charset="0"/>
            </a:endParaRPr>
          </a:p>
          <a:p>
            <a:pPr defTabSz="228594">
              <a:spcAft>
                <a:spcPts val="600"/>
              </a:spcAft>
            </a:pPr>
            <a:r>
              <a:rPr lang="en-US" sz="1600" b="1">
                <a:solidFill>
                  <a:schemeClr val="accent1"/>
                </a:solidFill>
                <a:latin typeface="Arial" panose="020B0604020202020204" pitchFamily="34" charset="0"/>
              </a:rPr>
              <a:t>Sprint 2 · Jun 22-Jul 2</a:t>
            </a:r>
          </a:p>
          <a:p>
            <a:pPr defTabSz="228594">
              <a:spcAft>
                <a:spcPts val="600"/>
              </a:spcAft>
            </a:pPr>
            <a:r>
              <a:rPr lang="en-US" sz="1400" i="1">
                <a:latin typeface="Arial" panose="020B0604020202020204" pitchFamily="34" charset="0"/>
              </a:rPr>
              <a:t>Transformation, validation, orchestration</a:t>
            </a:r>
          </a:p>
          <a:p>
            <a:pPr defTabSz="228594">
              <a:spcAft>
                <a:spcPts val="600"/>
              </a:spcAft>
            </a:pPr>
            <a:endParaRPr lang="en-US" sz="1400" dirty="0">
              <a:latin typeface="Arial" panose="020B0604020202020204" pitchFamily="34" charset="0"/>
            </a:endParaRPr>
          </a:p>
          <a:p>
            <a:pPr defTabSz="228594">
              <a:spcAft>
                <a:spcPts val="600"/>
              </a:spcAft>
            </a:pPr>
            <a:r>
              <a:rPr lang="en-US" sz="1600" b="1">
                <a:solidFill>
                  <a:schemeClr val="accent1"/>
                </a:solidFill>
                <a:latin typeface="Arial" panose="020B0604020202020204" pitchFamily="34" charset="0"/>
              </a:rPr>
              <a:t>Sprint 3 · Jul 3-7</a:t>
            </a:r>
          </a:p>
          <a:p>
            <a:pPr defTabSz="228594">
              <a:spcAft>
                <a:spcPts val="600"/>
              </a:spcAft>
            </a:pPr>
            <a:r>
              <a:rPr lang="en-US" sz="1400" i="1">
                <a:latin typeface="Arial" panose="020B0604020202020204" pitchFamily="34" charset="0"/>
              </a:rPr>
              <a:t>Medallion, dashboard, presentation</a:t>
            </a:r>
            <a:endParaRPr lang="en-US" sz="1400" i="1" dirty="0">
              <a:latin typeface="Arial" panose="020B0604020202020204" pitchFamily="34" charset="0"/>
            </a:endParaRPr>
          </a:p>
        </p:txBody>
      </p:sp>
      <p:graphicFrame>
        <p:nvGraphicFramePr>
          <p:cNvPr id="3" name="Object 2" descr="Example of a line chart displaying data trends from the year 2000 to 2003. It includes four groups with distinct lines, one of which is highlighted in bold pink for emphasis.">
            <a:extLst>
              <a:ext uri="{FF2B5EF4-FFF2-40B4-BE49-F238E27FC236}">
                <a16:creationId xmlns:a16="http://schemas.microsoft.com/office/drawing/2014/main" id="{D124DAA8-02B1-4F14-FAA5-6BC570F765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837447"/>
              </p:ext>
            </p:extLst>
          </p:nvPr>
        </p:nvGraphicFramePr>
        <p:xfrm>
          <a:off x="5203371" y="1219201"/>
          <a:ext cx="6437767" cy="4910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865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00BB7-47DB-6067-A762-E1E8469D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hallenges Card"/>
          <p:cNvSpPr/>
          <p:nvPr/>
        </p:nvSpPr>
        <p:spPr>
          <a:xfrm>
            <a:off x="556467" y="1770000"/>
            <a:ext cx="5366829" cy="4400000"/>
          </a:xfrm>
          <a:prstGeom prst="roundRect">
            <a:avLst>
              <a:gd name="adj" fmla="val 4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Learning Card"/>
          <p:cNvSpPr/>
          <p:nvPr/>
        </p:nvSpPr>
        <p:spPr>
          <a:xfrm>
            <a:off x="6230240" y="1780000"/>
            <a:ext cx="5366829" cy="4400000"/>
          </a:xfrm>
          <a:prstGeom prst="roundRect">
            <a:avLst>
              <a:gd name="adj" fmla="val 4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Badge 1"/>
          <p:cNvSpPr/>
          <p:nvPr/>
        </p:nvSpPr>
        <p:spPr>
          <a:xfrm>
            <a:off x="780000" y="2396977"/>
            <a:ext cx="620000" cy="620000"/>
          </a:xfrm>
          <a:prstGeom prst="ellipse">
            <a:avLst/>
          </a:prstGeom>
          <a:solidFill>
            <a:srgbClr val="7A00E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11" name="Challenge 1"/>
          <p:cNvSpPr/>
          <p:nvPr/>
        </p:nvSpPr>
        <p:spPr>
          <a:xfrm>
            <a:off x="1540000" y="2206977"/>
            <a:ext cx="423024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600" dirty="0"/>
              <a:t>Environment setup took longer than expected</a:t>
            </a:r>
          </a:p>
        </p:txBody>
      </p:sp>
      <p:sp>
        <p:nvSpPr>
          <p:cNvPr id="212" name="Badge 2"/>
          <p:cNvSpPr/>
          <p:nvPr/>
        </p:nvSpPr>
        <p:spPr>
          <a:xfrm>
            <a:off x="780000" y="3686977"/>
            <a:ext cx="620000" cy="620000"/>
          </a:xfrm>
          <a:prstGeom prst="ellipse">
            <a:avLst/>
          </a:prstGeom>
          <a:solidFill>
            <a:srgbClr val="7A00E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13" name="Challenge 2"/>
          <p:cNvSpPr/>
          <p:nvPr/>
        </p:nvSpPr>
        <p:spPr>
          <a:xfrm>
            <a:off x="1540000" y="3496977"/>
            <a:ext cx="423024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600" b="1" dirty="0"/>
              <a:t>New technologies to learn: </a:t>
            </a:r>
            <a:r>
              <a:rPr lang="en-US" sz="1600" dirty="0" err="1"/>
              <a:t>PySpark</a:t>
            </a:r>
            <a:r>
              <a:rPr lang="en-US" sz="1600" dirty="0"/>
              <a:t>, Delta Lake, big data concepts, AWS fundamentals</a:t>
            </a:r>
          </a:p>
        </p:txBody>
      </p:sp>
      <p:sp>
        <p:nvSpPr>
          <p:cNvPr id="214" name="Badge 3"/>
          <p:cNvSpPr/>
          <p:nvPr/>
        </p:nvSpPr>
        <p:spPr>
          <a:xfrm>
            <a:off x="780000" y="4976977"/>
            <a:ext cx="620000" cy="620000"/>
          </a:xfrm>
          <a:prstGeom prst="ellipse">
            <a:avLst/>
          </a:prstGeom>
          <a:solidFill>
            <a:srgbClr val="7A00E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5" name="Challenge 3"/>
          <p:cNvSpPr/>
          <p:nvPr/>
        </p:nvSpPr>
        <p:spPr>
          <a:xfrm>
            <a:off x="1540000" y="4786977"/>
            <a:ext cx="423024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600"/>
              <a:t>Generator and ingestion files were separated, adding modularization effort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D8AE8D0-FF42-0BE5-A133-BA4110795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 wrap="square" anchor="t">
            <a:normAutofit/>
          </a:bodyPr>
          <a:lstStyle/>
          <a:p>
            <a:r>
              <a:rPr lang="en-US" noProof="0"/>
              <a:t>Challenges Faced &amp; Learning Moments</a:t>
            </a:r>
            <a:endParaRPr lang="en-US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9F0551E-C1DF-DE2D-C9AC-F26FC72D3F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3411" y="1109663"/>
            <a:ext cx="11084673" cy="38404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The setbacks that became the turning point of the project</a:t>
            </a:r>
            <a:endParaRPr lang="en-U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1C90CD1-4814-05A7-35F3-97DA628AC3D2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6463654" y="2620000"/>
            <a:ext cx="4900000" cy="2700000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Ingestion and transformation responsibilities got mixed together.</a:t>
            </a:r>
          </a:p>
          <a:p>
            <a:pPr lvl="0"/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Learning proper layer separation was the key lesson.</a:t>
            </a:r>
          </a:p>
          <a:p>
            <a:pPr lvl="0"/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Turning point: </a:t>
            </a:r>
            <a:r>
              <a:rPr lang="en-US" sz="1600" dirty="0"/>
              <a:t>Project Buddy Karan introduced Medallion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84282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90AF97D-4BDD-00B2-5746-0110EF2C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 noProof="0"/>
              <a:t>Solution Architecture - Medallion Design</a:t>
            </a:r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C8AC14-ABD3-3366-AACE-9C939C5123E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3412" y="1109663"/>
            <a:ext cx="11084672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>
                <a:latin typeface="Arial" panose="020B0604020202020204" pitchFamily="34" charset="0"/>
              </a:rPr>
              <a:t>Raw data flows through Bronze, Silver and Gold layers into Power BI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1" name="Badge 1"/>
          <p:cNvSpPr/>
          <p:nvPr/>
        </p:nvSpPr>
        <p:spPr>
          <a:xfrm>
            <a:off x="928234" y="2000000"/>
            <a:ext cx="900000" cy="900000"/>
          </a:xfrm>
          <a:prstGeom prst="roundRect">
            <a:avLst/>
          </a:prstGeom>
          <a:solidFill>
            <a:srgbClr val="B87333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A75ED5-B8E2-4ACB-DF86-0A33EAE77E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3411" y="3648454"/>
            <a:ext cx="1629646" cy="1971541"/>
          </a:xfrm>
        </p:spPr>
        <p:txBody>
          <a:bodyPr/>
          <a:lstStyle/>
          <a:p>
            <a:pPr lvl="0"/>
            <a:r>
              <a:rPr lang="en-US" sz="1600"/>
              <a:t>Bronze</a:t>
            </a:r>
          </a:p>
          <a:p>
            <a:pPr lvl="2"/>
            <a:r>
              <a:rPr lang="en-US" sz="1400" b="1"/>
              <a:t>Raw ingested data</a:t>
            </a:r>
          </a:p>
          <a:p>
            <a:pPr lvl="3"/>
            <a:r>
              <a:rPr lang="en-US" i="1"/>
              <a:t>Schema captured as-is</a:t>
            </a:r>
          </a:p>
          <a:p>
            <a:endParaRPr lang="en-US" dirty="0"/>
          </a:p>
        </p:txBody>
      </p:sp>
      <p:sp>
        <p:nvSpPr>
          <p:cNvPr id="42" name="Badge 2"/>
          <p:cNvSpPr/>
          <p:nvPr/>
        </p:nvSpPr>
        <p:spPr>
          <a:xfrm>
            <a:off x="3290254" y="2000000"/>
            <a:ext cx="900000" cy="900000"/>
          </a:xfrm>
          <a:prstGeom prst="roundRect">
            <a:avLst/>
          </a:prstGeom>
          <a:solidFill>
            <a:srgbClr val="9AA0A6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BE58D183-22C0-1601-AE5C-E92D81149D4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925431" y="3648454"/>
            <a:ext cx="2003408" cy="1971541"/>
          </a:xfrm>
        </p:spPr>
        <p:txBody>
          <a:bodyPr/>
          <a:lstStyle/>
          <a:p>
            <a:pPr lvl="0"/>
            <a:r>
              <a:rPr lang="en-US" sz="1600"/>
              <a:t>Silver</a:t>
            </a:r>
          </a:p>
          <a:p>
            <a:pPr lvl="2"/>
            <a:r>
              <a:rPr lang="en-US" sz="1400" b="1"/>
              <a:t>Cleaned &amp; validated</a:t>
            </a:r>
          </a:p>
          <a:p>
            <a:pPr lvl="3"/>
            <a:r>
              <a:rPr lang="en-US" i="1"/>
              <a:t>Nulls and duplicates removed</a:t>
            </a:r>
            <a:endParaRPr lang="en-US" i="1" dirty="0"/>
          </a:p>
        </p:txBody>
      </p:sp>
      <p:sp>
        <p:nvSpPr>
          <p:cNvPr id="43" name="Badge 3"/>
          <p:cNvSpPr/>
          <p:nvPr/>
        </p:nvSpPr>
        <p:spPr>
          <a:xfrm>
            <a:off x="5652274" y="2000000"/>
            <a:ext cx="900000" cy="900000"/>
          </a:xfrm>
          <a:prstGeom prst="roundRect">
            <a:avLst/>
          </a:prstGeom>
          <a:solidFill>
            <a:srgbClr val="C9A227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9E592856-BB33-7F27-B107-5C83D1EC326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87451" y="3648454"/>
            <a:ext cx="1893934" cy="1971541"/>
          </a:xfrm>
        </p:spPr>
        <p:txBody>
          <a:bodyPr/>
          <a:lstStyle/>
          <a:p>
            <a:pPr lvl="0"/>
            <a:r>
              <a:rPr lang="en-US" sz="1600"/>
              <a:t>Gold</a:t>
            </a:r>
          </a:p>
          <a:p>
            <a:pPr lvl="2"/>
            <a:r>
              <a:rPr lang="en-US" sz="1400" b="1"/>
              <a:t>Business-ready tables</a:t>
            </a:r>
          </a:p>
          <a:p>
            <a:pPr lvl="3"/>
            <a:r>
              <a:rPr lang="en-US" i="1"/>
              <a:t>Joins and derived metrics</a:t>
            </a:r>
          </a:p>
          <a:p>
            <a:endParaRPr lang="en-US" dirty="0"/>
          </a:p>
        </p:txBody>
      </p:sp>
      <p:sp>
        <p:nvSpPr>
          <p:cNvPr id="44" name="Badge 4"/>
          <p:cNvSpPr/>
          <p:nvPr/>
        </p:nvSpPr>
        <p:spPr>
          <a:xfrm>
            <a:off x="8014294" y="2000000"/>
            <a:ext cx="900000" cy="900000"/>
          </a:xfrm>
          <a:prstGeom prst="roundRect">
            <a:avLst/>
          </a:prstGeom>
          <a:solidFill>
            <a:srgbClr val="7A3EA1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D4C3DC96-6371-25FF-4CC6-071BBE70F5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49470" y="3648454"/>
            <a:ext cx="1893933" cy="1971541"/>
          </a:xfrm>
        </p:spPr>
        <p:txBody>
          <a:bodyPr/>
          <a:lstStyle/>
          <a:p>
            <a:pPr lvl="0"/>
            <a:r>
              <a:rPr lang="en-US" sz="1600"/>
              <a:t>Aggregates</a:t>
            </a:r>
          </a:p>
          <a:p>
            <a:pPr lvl="2"/>
            <a:r>
              <a:rPr lang="en-US" sz="1400" b="1"/>
              <a:t>KPI-ready summaries</a:t>
            </a:r>
          </a:p>
          <a:p>
            <a:pPr lvl="3"/>
            <a:r>
              <a:rPr lang="en-US" i="1"/>
              <a:t>Optimized for reporting</a:t>
            </a:r>
            <a:endParaRPr lang="en-US" i="1" dirty="0"/>
          </a:p>
        </p:txBody>
      </p:sp>
      <p:sp>
        <p:nvSpPr>
          <p:cNvPr id="45" name="Badge 5"/>
          <p:cNvSpPr/>
          <p:nvPr/>
        </p:nvSpPr>
        <p:spPr>
          <a:xfrm>
            <a:off x="10376315" y="2000000"/>
            <a:ext cx="900000" cy="900000"/>
          </a:xfrm>
          <a:prstGeom prst="roundRect">
            <a:avLst/>
          </a:prstGeom>
          <a:solidFill>
            <a:srgbClr val="4B2E83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71FF069A-02C4-2DEE-ED5C-CC2815E863C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011492" y="3648454"/>
            <a:ext cx="2076430" cy="1971541"/>
          </a:xfrm>
        </p:spPr>
        <p:txBody>
          <a:bodyPr/>
          <a:lstStyle/>
          <a:p>
            <a:pPr lvl="0"/>
            <a:r>
              <a:rPr lang="en-US" sz="1600"/>
              <a:t>Power BI</a:t>
            </a:r>
          </a:p>
          <a:p>
            <a:pPr lvl="2"/>
            <a:r>
              <a:rPr lang="en-US" sz="1400" b="1"/>
              <a:t>Interactive dashboards</a:t>
            </a:r>
          </a:p>
          <a:p>
            <a:pPr lvl="3"/>
            <a:r>
              <a:rPr lang="en-US" i="1"/>
              <a:t>Business insights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06385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BCCB7-E8F3-4F94-1AE0-90F8C05D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ol Card 1"/>
          <p:cNvSpPr/>
          <p:nvPr/>
        </p:nvSpPr>
        <p:spPr>
          <a:xfrm>
            <a:off x="394162" y="1780000"/>
            <a:ext cx="2578828" cy="2900000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Col Card 2"/>
          <p:cNvSpPr/>
          <p:nvPr/>
        </p:nvSpPr>
        <p:spPr>
          <a:xfrm>
            <a:off x="3269421" y="1780000"/>
            <a:ext cx="2578828" cy="2900000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ol Card 3"/>
          <p:cNvSpPr/>
          <p:nvPr/>
        </p:nvSpPr>
        <p:spPr>
          <a:xfrm>
            <a:off x="6122382" y="1780000"/>
            <a:ext cx="2578828" cy="2900000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ol Card 4"/>
          <p:cNvSpPr/>
          <p:nvPr/>
        </p:nvSpPr>
        <p:spPr>
          <a:xfrm>
            <a:off x="8953038" y="1780000"/>
            <a:ext cx="2578828" cy="2900000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3A4A5F65-898C-CBC2-CE2F-9966B60C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US" noProof="0"/>
              <a:t>Action - Data Engineering Workflow</a:t>
            </a:r>
            <a:endParaRPr lang="en-US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4C33D35-D693-C566-5669-FD276F68A81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3411" y="1109663"/>
            <a:ext cx="11077727" cy="384048"/>
          </a:xfrm>
        </p:spPr>
        <p:txBody>
          <a:bodyPr/>
          <a:lstStyle/>
          <a:p>
            <a:r>
              <a:rPr lang="en-GB"/>
              <a:t>A standardized flow: Source, Validation, Transformation, Aggregation</a:t>
            </a:r>
            <a:endParaRPr lang="en-US"/>
          </a:p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9E5BCB-6BA5-F5E6-D0C0-3BF60AE40F2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61427" y="1844800"/>
            <a:ext cx="2578828" cy="457200"/>
          </a:xfrm>
        </p:spPr>
        <p:txBody>
          <a:bodyPr/>
          <a:lstStyle/>
          <a:p>
            <a:r>
              <a:rPr lang="en-GB"/>
              <a:t>01</a:t>
            </a:r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0D8C62A-1E19-B18F-BE02-FBFC193F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427" y="2302000"/>
            <a:ext cx="2578828" cy="822960"/>
          </a:xfrm>
        </p:spPr>
        <p:txBody>
          <a:bodyPr/>
          <a:lstStyle/>
          <a:p>
            <a:r>
              <a:rPr lang="en-GB"/>
              <a:t>Data Sources</a:t>
            </a:r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E14C1E0-E0C8-F4B5-AC1E-53AE12AC7B90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561427" y="3124961"/>
            <a:ext cx="2578828" cy="276161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Loans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Deposits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Transactions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Liquidity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Intraday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6D6F4C-C0F5-8798-DE62-274E8F654278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403235" y="1844675"/>
            <a:ext cx="2578828" cy="457200"/>
          </a:xfrm>
        </p:spPr>
        <p:txBody>
          <a:bodyPr/>
          <a:lstStyle/>
          <a:p>
            <a:r>
              <a:rPr lang="en-US"/>
              <a:t>02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CBE44CF3-1DE1-E354-725F-C9CF4D05429E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3403235" y="2301875"/>
            <a:ext cx="2578828" cy="822960"/>
          </a:xfrm>
        </p:spPr>
        <p:txBody>
          <a:bodyPr/>
          <a:lstStyle/>
          <a:p>
            <a:r>
              <a:rPr lang="en-GB"/>
              <a:t>Validation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61D06-64F3-E682-3389-64C2FFA94D33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3403235" y="3124834"/>
            <a:ext cx="2578828" cy="276161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/>
              <a:t>Schema validation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/>
              <a:t>Null checks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/>
              <a:t>Duplicate checks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/>
              <a:t>Business validations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1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09681DF-4511-63A6-2E4C-7DE4C846125E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6245043" y="1844675"/>
            <a:ext cx="2578828" cy="457200"/>
          </a:xfrm>
        </p:spPr>
        <p:txBody>
          <a:bodyPr/>
          <a:lstStyle/>
          <a:p>
            <a:r>
              <a:rPr lang="en-US"/>
              <a:t>03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5D62076-8F00-D850-DD48-0E963483C107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245043" y="2301875"/>
            <a:ext cx="2578828" cy="822960"/>
          </a:xfrm>
        </p:spPr>
        <p:txBody>
          <a:bodyPr/>
          <a:lstStyle/>
          <a:p>
            <a:r>
              <a:rPr lang="en-GB"/>
              <a:t>Transformation</a:t>
            </a:r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35B903B6-F88C-0665-43A9-3E1F435BAD3F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6245043" y="3124834"/>
            <a:ext cx="2578828" cy="2761615"/>
          </a:xfrm>
        </p:spPr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i="1"/>
              <a:t>Dataset joins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i="1"/>
              <a:t>Currency conversion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i="1"/>
              <a:t>Derived columns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i="1"/>
              <a:t>Business calculations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i="1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E468CB9D-39E5-FE76-6BAA-0E8449895D3E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9086850" y="1844675"/>
            <a:ext cx="2578828" cy="457200"/>
          </a:xfrm>
        </p:spPr>
        <p:txBody>
          <a:bodyPr/>
          <a:lstStyle/>
          <a:p>
            <a:r>
              <a:rPr lang="en-US"/>
              <a:t>04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485B1E89-E3F5-2DC2-096D-39E23828D8BF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9086850" y="2301875"/>
            <a:ext cx="2578828" cy="822960"/>
          </a:xfrm>
        </p:spPr>
        <p:txBody>
          <a:bodyPr/>
          <a:lstStyle/>
          <a:p>
            <a:r>
              <a:rPr lang="en-GB"/>
              <a:t>Aggregation</a:t>
            </a:r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231F73BF-6A6D-50C0-6095-3EC9BD80729E}"/>
              </a:ext>
            </a:extLst>
          </p:cNvPr>
          <p:cNvSpPr>
            <a:spLocks noGrp="1"/>
          </p:cNvSpPr>
          <p:nvPr>
            <p:ph sz="half" idx="42"/>
          </p:nvPr>
        </p:nvSpPr>
        <p:spPr>
          <a:xfrm>
            <a:off x="9086850" y="3124834"/>
            <a:ext cx="2578828" cy="276161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/>
              <a:t>KPI aggregates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/>
              <a:t>Scenario metrics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/>
              <a:t>Analytics-ready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90836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8F30-979D-8976-8DD9-F7F1A75DB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BE6969A-9198-D794-7A2C-1DC16CEC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549276"/>
            <a:ext cx="7072865" cy="588148"/>
          </a:xfrm>
        </p:spPr>
        <p:txBody>
          <a:bodyPr/>
          <a:lstStyle/>
          <a:p>
            <a:r>
              <a:rPr lang="en-US" dirty="0"/>
              <a:t>Insights - Power BI Dashboard</a:t>
            </a:r>
          </a:p>
        </p:txBody>
      </p:sp>
      <p:sp>
        <p:nvSpPr>
          <p:cNvPr id="20" name="Insight Card 1"/>
          <p:cNvSpPr/>
          <p:nvPr/>
        </p:nvSpPr>
        <p:spPr>
          <a:xfrm>
            <a:off x="554566" y="1310143"/>
            <a:ext cx="4649893" cy="1031614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 lIns="320040" tIns="182880" rIns="320040" bIns="182880" anchor="ctr">
            <a:normAutofit fontScale="92500" lnSpcReduction="20000"/>
          </a:bodyPr>
          <a:lstStyle/>
          <a:p>
            <a:r>
              <a:rPr lang="en-US" sz="1800" b="1">
                <a:solidFill>
                  <a:srgbClr val="460073"/>
                </a:solidFill>
              </a:rPr>
              <a:t>01</a:t>
            </a:r>
          </a:p>
          <a:p>
            <a:r>
              <a:rPr lang="en-US" sz="1600" b="1"/>
              <a:t>Scenario-based stress testing</a:t>
            </a:r>
            <a:r>
              <a:rPr lang="en-US" sz="1600"/>
              <a:t> with dynamic filters</a:t>
            </a:r>
          </a:p>
        </p:txBody>
      </p:sp>
      <p:sp>
        <p:nvSpPr>
          <p:cNvPr id="21" name="Insight Card 2"/>
          <p:cNvSpPr/>
          <p:nvPr/>
        </p:nvSpPr>
        <p:spPr>
          <a:xfrm>
            <a:off x="554564" y="2514474"/>
            <a:ext cx="4649893" cy="1031614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 lIns="320040" tIns="182880" rIns="320040" bIns="182880" anchor="ctr">
            <a:normAutofit fontScale="92500" lnSpcReduction="20000"/>
          </a:bodyPr>
          <a:lstStyle/>
          <a:p>
            <a:r>
              <a:rPr lang="en-US" sz="1800" b="1" dirty="0">
                <a:solidFill>
                  <a:srgbClr val="460073"/>
                </a:solidFill>
              </a:rPr>
              <a:t>02</a:t>
            </a:r>
          </a:p>
          <a:p>
            <a:r>
              <a:rPr lang="en-US" sz="1600" b="1" dirty="0"/>
              <a:t>Real-time KPIs</a:t>
            </a:r>
            <a:r>
              <a:rPr lang="en-US" sz="1600" dirty="0"/>
              <a:t> for Exposure, Liquidity &amp; Transactions</a:t>
            </a:r>
          </a:p>
        </p:txBody>
      </p:sp>
      <p:sp>
        <p:nvSpPr>
          <p:cNvPr id="22" name="Insight Card 3"/>
          <p:cNvSpPr/>
          <p:nvPr/>
        </p:nvSpPr>
        <p:spPr>
          <a:xfrm>
            <a:off x="554564" y="3718805"/>
            <a:ext cx="4649893" cy="1031614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 lIns="320040" tIns="182880" rIns="320040" bIns="182880" anchor="ctr">
            <a:normAutofit fontScale="92500"/>
          </a:bodyPr>
          <a:lstStyle/>
          <a:p>
            <a:r>
              <a:rPr lang="en-US" sz="1800" b="1" dirty="0">
                <a:solidFill>
                  <a:srgbClr val="460073"/>
                </a:solidFill>
              </a:rPr>
              <a:t>03</a:t>
            </a:r>
          </a:p>
          <a:p>
            <a:r>
              <a:rPr lang="en-US" sz="1600" b="1" dirty="0"/>
              <a:t>Regional risk analysis</a:t>
            </a:r>
            <a:r>
              <a:rPr lang="en-US" sz="1600" dirty="0"/>
              <a:t> across global markets</a:t>
            </a:r>
          </a:p>
        </p:txBody>
      </p:sp>
      <p:sp>
        <p:nvSpPr>
          <p:cNvPr id="23" name="Insight Card 4"/>
          <p:cNvSpPr/>
          <p:nvPr/>
        </p:nvSpPr>
        <p:spPr>
          <a:xfrm>
            <a:off x="554564" y="4923137"/>
            <a:ext cx="4649893" cy="1031614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 lIns="320040" tIns="182880" rIns="320040" bIns="182880" anchor="ctr">
            <a:normAutofit fontScale="92500" lnSpcReduction="20000"/>
          </a:bodyPr>
          <a:lstStyle/>
          <a:p>
            <a:r>
              <a:rPr lang="en-US" sz="1800" b="1" dirty="0">
                <a:solidFill>
                  <a:srgbClr val="460073"/>
                </a:solidFill>
              </a:rPr>
              <a:t>04</a:t>
            </a:r>
          </a:p>
          <a:p>
            <a:r>
              <a:rPr lang="en-US" sz="1600" b="1" dirty="0"/>
              <a:t>Interactive visualizations</a:t>
            </a:r>
            <a:r>
              <a:rPr lang="en-US" sz="1600" dirty="0"/>
              <a:t> for risk insights &amp; decision-making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3CCBAE3-AD4C-E92B-29DA-0A37E30AB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286" y="1008997"/>
            <a:ext cx="5895294" cy="5226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03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B4EEC0-3C97-9210-BF6F-D40FA66C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 wrap="square" anchor="t">
            <a:normAutofit/>
          </a:bodyPr>
          <a:lstStyle/>
          <a:p>
            <a:r>
              <a:rPr lang="en-US"/>
              <a:t>What We Learned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C00EE7DE-DCB5-FBBC-8AA5-BABEEE835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6296" y="1399117"/>
            <a:ext cx="563754" cy="492443"/>
          </a:xfrm>
        </p:spPr>
        <p:txBody>
          <a:bodyPr wrap="square">
            <a:normAutofit/>
          </a:bodyPr>
          <a:lstStyle/>
          <a:p>
            <a:r>
              <a:rPr lang="en-AR"/>
              <a:t>01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6E8F5-584B-55F7-05DF-2BDC5F756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043" y="1398093"/>
            <a:ext cx="6980401" cy="694100"/>
          </a:xfrm>
        </p:spPr>
        <p:txBody>
          <a:bodyPr>
            <a:normAutofit/>
          </a:bodyPr>
          <a:lstStyle/>
          <a:p>
            <a:r>
              <a:rPr lang="en-US" dirty="0"/>
              <a:t>Big Data &amp; Cloud</a:t>
            </a:r>
          </a:p>
          <a:p>
            <a:pPr lvl="1"/>
            <a:r>
              <a:rPr lang="en-US" sz="1600" i="1" dirty="0" err="1"/>
              <a:t>PySpark</a:t>
            </a:r>
            <a:r>
              <a:rPr lang="en-US" sz="1600" i="1" dirty="0"/>
              <a:t>, Delta Lake, AWS storage, Hadoop &amp; Hive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29123E95-44A3-3039-312B-157480C444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26296" y="2376037"/>
            <a:ext cx="563754" cy="492443"/>
          </a:xfrm>
        </p:spPr>
        <p:txBody>
          <a:bodyPr wrap="square">
            <a:normAutofit/>
          </a:bodyPr>
          <a:lstStyle/>
          <a:p>
            <a:r>
              <a:rPr lang="en-AR"/>
              <a:t>02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536EAD-83E7-CE74-CB70-CB16B0066C0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48043" y="2375233"/>
            <a:ext cx="6980401" cy="694100"/>
          </a:xfrm>
        </p:spPr>
        <p:txBody>
          <a:bodyPr>
            <a:normAutofit/>
          </a:bodyPr>
          <a:lstStyle/>
          <a:p>
            <a:r>
              <a:rPr lang="en-US" dirty="0"/>
              <a:t>Data Engineering</a:t>
            </a:r>
          </a:p>
          <a:p>
            <a:pPr lvl="1"/>
            <a:r>
              <a:rPr lang="en-US" sz="1600" i="1" dirty="0"/>
              <a:t>Medallion architecture, Power BI, pipeline design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8A98E18E-E523-1E27-254B-B9730509B2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26296" y="3350384"/>
            <a:ext cx="563754" cy="492443"/>
          </a:xfrm>
        </p:spPr>
        <p:txBody>
          <a:bodyPr wrap="square">
            <a:normAutofit/>
          </a:bodyPr>
          <a:lstStyle/>
          <a:p>
            <a:r>
              <a:rPr lang="en-AR"/>
              <a:t>03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24A68-815F-579A-D4C1-16E8616D991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148043" y="3352372"/>
            <a:ext cx="6980401" cy="694100"/>
          </a:xfrm>
        </p:spPr>
        <p:txBody>
          <a:bodyPr>
            <a:normAutofit/>
          </a:bodyPr>
          <a:lstStyle/>
          <a:p>
            <a:r>
              <a:rPr lang="en-US" dirty="0"/>
              <a:t>Architecture</a:t>
            </a:r>
          </a:p>
          <a:p>
            <a:pPr lvl="1"/>
            <a:r>
              <a:rPr lang="en-US" sz="1600" i="1" dirty="0"/>
              <a:t>Enterprise data lakes, Cloudera concepts, ecosystem analysis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0019DE1D-5828-9F73-BE21-3883B47878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26296" y="4335521"/>
            <a:ext cx="563754" cy="492443"/>
          </a:xfrm>
        </p:spPr>
        <p:txBody>
          <a:bodyPr wrap="square">
            <a:normAutofit/>
          </a:bodyPr>
          <a:lstStyle/>
          <a:p>
            <a:r>
              <a:rPr lang="en-AR"/>
              <a:t>04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E3B7B69-DE1F-06F0-B896-C9C09A14858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48043" y="4329511"/>
            <a:ext cx="6980401" cy="694100"/>
          </a:xfrm>
        </p:spPr>
        <p:txBody>
          <a:bodyPr>
            <a:normAutofit/>
          </a:bodyPr>
          <a:lstStyle/>
          <a:p>
            <a:r>
              <a:rPr lang="en-US" dirty="0"/>
              <a:t>Professional</a:t>
            </a:r>
          </a:p>
          <a:p>
            <a:pPr lvl="1"/>
            <a:r>
              <a:rPr lang="en-US" sz="1600" i="1" dirty="0"/>
              <a:t>Project management, documentation, communication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2E03873-17A1-DA89-0594-3055F11496D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302" r="283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32096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3FDF-30CF-378E-8818-2B8B3600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Impact Card 1"/>
          <p:cNvSpPr/>
          <p:nvPr/>
        </p:nvSpPr>
        <p:spPr>
          <a:xfrm>
            <a:off x="494518" y="1780000"/>
            <a:ext cx="3393084" cy="2900000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Impact Card 2"/>
          <p:cNvSpPr/>
          <p:nvPr/>
        </p:nvSpPr>
        <p:spPr>
          <a:xfrm>
            <a:off x="4252096" y="1780000"/>
            <a:ext cx="3393084" cy="2900000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Impact Card 3"/>
          <p:cNvSpPr/>
          <p:nvPr/>
        </p:nvSpPr>
        <p:spPr>
          <a:xfrm>
            <a:off x="8098886" y="1780000"/>
            <a:ext cx="3393084" cy="2900000"/>
          </a:xfrm>
          <a:prstGeom prst="roundRect">
            <a:avLst>
              <a:gd name="adj" fmla="val 50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20B3856-2A92-9117-0477-D0DE700E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 noProof="0"/>
              <a:t>The Impact of Our Work</a:t>
            </a:r>
            <a:endParaRPr lang="en-US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CC994EE-AC0A-659F-774D-D33B87374E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3411" y="1109663"/>
            <a:ext cx="11084673" cy="384048"/>
          </a:xfrm>
        </p:spPr>
        <p:txBody>
          <a:bodyPr/>
          <a:lstStyle/>
          <a:p>
            <a:r>
              <a:rPr lang="en-GB"/>
              <a:t>From learning to reusable value</a:t>
            </a:r>
            <a:endParaRPr lang="en-US"/>
          </a:p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10CFBB-6889-F1B2-215C-A25546F252A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61424" y="1844675"/>
            <a:ext cx="3393084" cy="457200"/>
          </a:xfrm>
        </p:spPr>
        <p:txBody>
          <a:bodyPr/>
          <a:lstStyle/>
          <a:p>
            <a:r>
              <a:rPr lang="en-GB"/>
              <a:t>01</a:t>
            </a:r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CDFECD-EC7A-2FF7-E062-3466D0432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424" y="2301875"/>
            <a:ext cx="3393084" cy="822960"/>
          </a:xfrm>
        </p:spPr>
        <p:txBody>
          <a:bodyPr/>
          <a:lstStyle/>
          <a:p>
            <a:r>
              <a:rPr lang="en-GB"/>
              <a:t>Immediate Impact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AAACF51-2A43-B192-BDD1-A5C9BB769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1424" y="3124835"/>
            <a:ext cx="3393084" cy="2761488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Simplified architecture understanding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Concepts proven through simulation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Reusable learning framework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Scenario-based analytics</a:t>
            </a:r>
          </a:p>
          <a:p>
            <a:endParaRPr lang="en-US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D2599C0-964B-62EB-3824-7C007ABF412A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408212" y="1844675"/>
            <a:ext cx="3393084" cy="457200"/>
          </a:xfrm>
        </p:spPr>
        <p:txBody>
          <a:bodyPr/>
          <a:lstStyle/>
          <a:p>
            <a:r>
              <a:rPr lang="en-US"/>
              <a:t>02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72A4C2-8A80-6079-AF21-90EFB5CD0D95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408212" y="2301875"/>
            <a:ext cx="3393084" cy="822960"/>
          </a:xfrm>
        </p:spPr>
        <p:txBody>
          <a:bodyPr/>
          <a:lstStyle/>
          <a:p>
            <a:r>
              <a:rPr lang="en-GB"/>
              <a:t>Future Impact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1C3FD-75DB-86B3-9F42-8D139F364D84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408212" y="3124835"/>
            <a:ext cx="3393084" cy="2761488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Faster onboarding for new interns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Simulation can be expanded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Serves as a proof-of-concept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6E7AAC1D-5F48-45A4-3632-016B7014FBB5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255000" y="1844675"/>
            <a:ext cx="3393084" cy="457200"/>
          </a:xfrm>
        </p:spPr>
        <p:txBody>
          <a:bodyPr/>
          <a:lstStyle/>
          <a:p>
            <a:r>
              <a:rPr lang="en-US"/>
              <a:t>03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FCD6F7B5-338E-4806-D748-0AF1D4C35B0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55000" y="2301875"/>
            <a:ext cx="3393084" cy="822960"/>
          </a:xfrm>
        </p:spPr>
        <p:txBody>
          <a:bodyPr/>
          <a:lstStyle/>
          <a:p>
            <a:r>
              <a:rPr lang="en-GB"/>
              <a:t>Value Created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B450259A-FDA9-51AA-7379-9BAE5B9A5ADC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55000" y="3124835"/>
            <a:ext cx="3393084" cy="2761488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Learning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Simulation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Analytics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Enterprise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94991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A80CD-76BB-D6FD-EDF1-1AFFFD24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5F0C386-5ADE-87E9-813B-D7CDB3D4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2700" b="1" i="0" kern="1200" noProof="0">
                <a:latin typeface="Arial" panose="020B0604020202020204" pitchFamily="34" charset="0"/>
                <a:ea typeface="+mj-ea"/>
                <a:cs typeface="+mj-cs"/>
              </a:rPr>
              <a:t>Scaling Toward the Client Architecture</a:t>
            </a:r>
            <a:endParaRPr lang="en-US" sz="2700" b="1" i="0" kern="120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50E1509-27DC-5CB8-1163-AAF6DCE9A3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92709" y="2254789"/>
            <a:ext cx="3148429" cy="399921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GB"/>
              <a:t>From Current State to Target State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544B2D-A7DF-A59D-6140-0301F190B84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492709" y="3223267"/>
            <a:ext cx="3148429" cy="399921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400"/>
              <a:t>How our simulation can evolve into a production-grade platform</a:t>
            </a:r>
            <a:endParaRPr lang="en-US" sz="1400"/>
          </a:p>
        </p:txBody>
      </p:sp>
      <p:graphicFrame>
        <p:nvGraphicFramePr>
          <p:cNvPr id="232" name="Marcador de contenido 6">
            <a:extLst>
              <a:ext uri="{FF2B5EF4-FFF2-40B4-BE49-F238E27FC236}">
                <a16:creationId xmlns:a16="http://schemas.microsoft.com/office/drawing/2014/main" id="{E719A0F7-7267-8E76-F2F7-D9BD507A6129}"/>
              </a:ext>
            </a:extLst>
          </p:cNvPr>
          <p:cNvGraphicFramePr>
            <a:graphicFrameLocks noGrp="1"/>
          </p:cNvGraphicFramePr>
          <p:nvPr>
            <p:ph sz="half" idx="23"/>
            <p:extLst>
              <p:ext uri="{D42A27DB-BD31-4B8C-83A1-F6EECF244321}">
                <p14:modId xmlns:p14="http://schemas.microsoft.com/office/powerpoint/2010/main" val="2496736868"/>
              </p:ext>
            </p:extLst>
          </p:nvPr>
        </p:nvGraphicFramePr>
        <p:xfrm>
          <a:off x="563411" y="1871331"/>
          <a:ext cx="6898434" cy="4258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5340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BCCB7-E8F3-4F94-1AE0-90F8C05D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ad Card 1"/>
          <p:cNvSpPr/>
          <p:nvPr/>
        </p:nvSpPr>
        <p:spPr>
          <a:xfrm>
            <a:off x="505671" y="1780000"/>
            <a:ext cx="2634583" cy="3450000"/>
          </a:xfrm>
          <a:prstGeom prst="roundRect">
            <a:avLst>
              <a:gd name="adj" fmla="val 45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Road Card 2"/>
          <p:cNvSpPr/>
          <p:nvPr/>
        </p:nvSpPr>
        <p:spPr>
          <a:xfrm>
            <a:off x="3347480" y="1780000"/>
            <a:ext cx="2578828" cy="3450000"/>
          </a:xfrm>
          <a:prstGeom prst="roundRect">
            <a:avLst>
              <a:gd name="adj" fmla="val 45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Road Card 3"/>
          <p:cNvSpPr/>
          <p:nvPr/>
        </p:nvSpPr>
        <p:spPr>
          <a:xfrm>
            <a:off x="6100079" y="1780000"/>
            <a:ext cx="2578828" cy="3450000"/>
          </a:xfrm>
          <a:prstGeom prst="roundRect">
            <a:avLst>
              <a:gd name="adj" fmla="val 45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Road Card 4"/>
          <p:cNvSpPr/>
          <p:nvPr/>
        </p:nvSpPr>
        <p:spPr>
          <a:xfrm>
            <a:off x="8975339" y="1779999"/>
            <a:ext cx="2953317" cy="3583737"/>
          </a:xfrm>
          <a:prstGeom prst="roundRect">
            <a:avLst>
              <a:gd name="adj" fmla="val 4500"/>
            </a:avLst>
          </a:prstGeom>
          <a:solidFill>
            <a:srgbClr val="EDE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3A4A5F65-898C-CBC2-CE2F-9966B60C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US" noProof="0"/>
              <a:t>Impact &amp; Future Recommendations</a:t>
            </a:r>
            <a:endParaRPr lang="en-US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4C33D35-D693-C566-5669-FD276F68A81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3411" y="1109663"/>
            <a:ext cx="11077727" cy="384048"/>
          </a:xfrm>
        </p:spPr>
        <p:txBody>
          <a:bodyPr/>
          <a:lstStyle/>
          <a:p>
            <a:r>
              <a:rPr lang="en-GB"/>
              <a:t>A 30/60/90-day path from proof-of-concept to enterprise scale</a:t>
            </a:r>
            <a:endParaRPr lang="en-US"/>
          </a:p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9E5BCB-6BA5-F5E6-D0C0-3BF60AE40F2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61427" y="1844800"/>
            <a:ext cx="2578828" cy="457200"/>
          </a:xfrm>
        </p:spPr>
        <p:txBody>
          <a:bodyPr/>
          <a:lstStyle/>
          <a:p>
            <a:r>
              <a:rPr lang="en-GB"/>
              <a:t>01</a:t>
            </a:r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0D8C62A-1E19-B18F-BE02-FBFC193F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427" y="2302000"/>
            <a:ext cx="2578828" cy="822960"/>
          </a:xfrm>
        </p:spPr>
        <p:txBody>
          <a:bodyPr/>
          <a:lstStyle/>
          <a:p>
            <a:r>
              <a:rPr lang="en-GB"/>
              <a:t>Next 30 Days</a:t>
            </a:r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E14C1E0-E0C8-F4B5-AC1E-53AE12AC7B90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561427" y="3124961"/>
            <a:ext cx="2578828" cy="2761615"/>
          </a:xfrm>
        </p:spPr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i="1"/>
              <a:t>Productionize ingestion framework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i="1"/>
              <a:t>Strengthen validation rules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i="1"/>
              <a:t>Improve dashboard KPI coverage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6D6F4C-C0F5-8798-DE62-274E8F654278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403235" y="1844675"/>
            <a:ext cx="2578828" cy="457200"/>
          </a:xfrm>
        </p:spPr>
        <p:txBody>
          <a:bodyPr/>
          <a:lstStyle/>
          <a:p>
            <a:r>
              <a:rPr lang="en-US"/>
              <a:t>02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CBE44CF3-1DE1-E354-725F-C9CF4D05429E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3403235" y="2301875"/>
            <a:ext cx="2578828" cy="822960"/>
          </a:xfrm>
        </p:spPr>
        <p:txBody>
          <a:bodyPr/>
          <a:lstStyle/>
          <a:p>
            <a:r>
              <a:rPr lang="en-GB"/>
              <a:t>Next 60 Days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61D06-64F3-E682-3389-64C2FFA94D33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3403235" y="3124834"/>
            <a:ext cx="2578828" cy="2761615"/>
          </a:xfrm>
        </p:spPr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i="1"/>
              <a:t>Automate scheduling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i="1"/>
              <a:t>Add monitoring &amp; alerts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i="1"/>
              <a:t>Expand scenario simulations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i="1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09681DF-4511-63A6-2E4C-7DE4C846125E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6245043" y="1844675"/>
            <a:ext cx="2578828" cy="457200"/>
          </a:xfrm>
        </p:spPr>
        <p:txBody>
          <a:bodyPr/>
          <a:lstStyle/>
          <a:p>
            <a:r>
              <a:rPr lang="en-US"/>
              <a:t>03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5D62076-8F00-D850-DD48-0E963483C107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245043" y="2301875"/>
            <a:ext cx="2578828" cy="822960"/>
          </a:xfrm>
        </p:spPr>
        <p:txBody>
          <a:bodyPr/>
          <a:lstStyle/>
          <a:p>
            <a:r>
              <a:rPr lang="en-GB"/>
              <a:t>Next 90 Days</a:t>
            </a:r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35B903B6-F88C-0665-43A9-3E1F435BAD3F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6245043" y="3124834"/>
            <a:ext cx="2307942" cy="276161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Integrate cloud storage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Add real-time data feeds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Implement governance layer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Enable AI-driven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1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E468CB9D-39E5-FE76-6BAA-0E8449895D3E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9086850" y="1844675"/>
            <a:ext cx="2578828" cy="457200"/>
          </a:xfrm>
        </p:spPr>
        <p:txBody>
          <a:bodyPr/>
          <a:lstStyle/>
          <a:p>
            <a:r>
              <a:rPr lang="en-US"/>
              <a:t>04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485B1E89-E3F5-2DC2-096D-39E23828D8BF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9086850" y="2301875"/>
            <a:ext cx="2578828" cy="822960"/>
          </a:xfrm>
        </p:spPr>
        <p:txBody>
          <a:bodyPr/>
          <a:lstStyle/>
          <a:p>
            <a:r>
              <a:rPr lang="en-GB"/>
              <a:t>Business Impact</a:t>
            </a:r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231F73BF-6A6D-50C0-6095-3EC9BD80729E}"/>
              </a:ext>
            </a:extLst>
          </p:cNvPr>
          <p:cNvSpPr>
            <a:spLocks noGrp="1"/>
          </p:cNvSpPr>
          <p:nvPr>
            <p:ph sz="half" idx="42"/>
          </p:nvPr>
        </p:nvSpPr>
        <p:spPr>
          <a:xfrm>
            <a:off x="9053396" y="2924114"/>
            <a:ext cx="2707997" cy="276161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Problem: </a:t>
            </a:r>
            <a:r>
              <a:rPr lang="en-US" sz="1400" i="1" dirty="0"/>
              <a:t>enterprise architectures are hard to explain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Action: </a:t>
            </a:r>
            <a:r>
              <a:rPr lang="en-US" sz="1400" i="1" dirty="0"/>
              <a:t>built a scalable simulation &amp; analytics framework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Insight: </a:t>
            </a:r>
            <a:r>
              <a:rPr lang="en-US" sz="1400" i="1" dirty="0"/>
              <a:t>medallion simplifies development &amp; governance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Impact: </a:t>
            </a:r>
            <a:r>
              <a:rPr lang="en-US" sz="1400" i="1" dirty="0"/>
              <a:t>reusable foundation for onboarding &amp;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90836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7994-6EAD-7EA8-6493-3DEC66884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638" y="3125455"/>
            <a:ext cx="7200000" cy="607089"/>
          </a:xfrm>
        </p:spPr>
        <p:txBody>
          <a:bodyPr/>
          <a:lstStyle/>
          <a:p>
            <a:r>
              <a:rPr lang="en-US" sz="4800" b="1"/>
              <a:t>Thank You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10246477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ArialBold-Arial">
      <a:majorFont>
        <a:latin typeface="Arial Bold"/>
        <a:ea typeface=""/>
        <a:cs typeface=""/>
      </a:majorFont>
      <a:minorFont>
        <a:latin typeface="Arial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Arial_v22_Accessibility" id="{33788C37-3639-4140-8F0B-137AF9F415CF}" vid="{FB67132C-5BE2-C84B-880F-CAB79776028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C14D121F00114E8E7BD106F9B0AA9B" ma:contentTypeVersion="10" ma:contentTypeDescription="Create a new document." ma:contentTypeScope="" ma:versionID="b905509586c7719cca7ae97feecf9224">
  <xsd:schema xmlns:xsd="http://www.w3.org/2001/XMLSchema" xmlns:xs="http://www.w3.org/2001/XMLSchema" xmlns:p="http://schemas.microsoft.com/office/2006/metadata/properties" xmlns:ns2="a9064d45-be22-454c-9316-75a0b688516a" xmlns:ns3="80733bf4-14b0-4a50-b9bc-da23ab460c74" targetNamespace="http://schemas.microsoft.com/office/2006/metadata/properties" ma:root="true" ma:fieldsID="c7da8e280cad63d9bb6c3b35330274e1" ns2:_="" ns3:_="">
    <xsd:import namespace="a9064d45-be22-454c-9316-75a0b688516a"/>
    <xsd:import namespace="80733bf4-14b0-4a50-b9bc-da23ab460c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064d45-be22-454c-9316-75a0b68851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33bf4-14b0-4a50-b9bc-da23ab460c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9f39b2-0c36-4c4e-a2fe-c284bc2e80e0}" ma:internalName="TaxCatchAll" ma:showField="CatchAllData" ma:web="80733bf4-14b0-4a50-b9bc-da23ab460c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064d45-be22-454c-9316-75a0b688516a">
      <Terms xmlns="http://schemas.microsoft.com/office/infopath/2007/PartnerControls"/>
    </lcf76f155ced4ddcb4097134ff3c332f>
    <TaxCatchAll xmlns="80733bf4-14b0-4a50-b9bc-da23ab460c74" xsi:nil="true"/>
  </documentManagement>
</p:properties>
</file>

<file path=customXml/itemProps1.xml><?xml version="1.0" encoding="utf-8"?>
<ds:datastoreItem xmlns:ds="http://schemas.openxmlformats.org/officeDocument/2006/customXml" ds:itemID="{7FF515C9-0298-484E-8EE7-8BC3397D08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064d45-be22-454c-9316-75a0b688516a"/>
    <ds:schemaRef ds:uri="80733bf4-14b0-4a50-b9bc-da23ab460c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CBD5EA-191D-4269-ACD5-80F26C7B10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FDE27C-16C4-45FF-A19B-13BD8B1086D5}">
  <ds:schemaRefs>
    <ds:schemaRef ds:uri="38490fd2-3874-498a-a766-2fc8121cd514"/>
    <ds:schemaRef ds:uri="9c82783a-043f-442e-839a-a2edde742a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a9064d45-be22-454c-9316-75a0b688516a"/>
    <ds:schemaRef ds:uri="80733bf4-14b0-4a50-b9bc-da23ab460c74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FY25-Arial_Accessibility</Template>
  <TotalTime>624</TotalTime>
  <Words>724</Words>
  <Application>Microsoft Office PowerPoint</Application>
  <PresentationFormat>Widescreen</PresentationFormat>
  <Paragraphs>190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Bold</vt:lpstr>
      <vt:lpstr>Arial Regular</vt:lpstr>
      <vt:lpstr>Graphik</vt:lpstr>
      <vt:lpstr>GT Sectra Fine Rg</vt:lpstr>
      <vt:lpstr>Palatino</vt:lpstr>
      <vt:lpstr>System Font</vt:lpstr>
      <vt:lpstr>Accenture 2025</vt:lpstr>
      <vt:lpstr>Banking Data Simulation Project</vt:lpstr>
      <vt:lpstr>Understanding the Client Architecture</vt:lpstr>
      <vt:lpstr>From Complex Architecture to Simplified Simulation</vt:lpstr>
      <vt:lpstr>Banking Data Project Simulation</vt:lpstr>
      <vt:lpstr>The Problem</vt:lpstr>
      <vt:lpstr>Action - Sprint Execution &amp; Burndown</vt:lpstr>
      <vt:lpstr>Challenges Faced &amp; Learning Moments</vt:lpstr>
      <vt:lpstr>Solution Architecture - Medallion Design</vt:lpstr>
      <vt:lpstr>Action - Data Engineering Workflow</vt:lpstr>
      <vt:lpstr>Insights - Power BI Dashboard</vt:lpstr>
      <vt:lpstr>What We Learned</vt:lpstr>
      <vt:lpstr>The Impact of Our Work</vt:lpstr>
      <vt:lpstr>Scaling Toward the Client Architecture</vt:lpstr>
      <vt:lpstr>Impact &amp; Future Recommendations</vt:lpstr>
      <vt:lpstr>Thank You</vt:lpstr>
    </vt:vector>
  </TitlesOfParts>
  <Manager>Canvas team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Choudhury, Debshata</dc:creator>
  <cp:keywords/>
  <dc:description>version 18, Graphik font family</dc:description>
  <cp:lastModifiedBy>Choudhury, Debshata</cp:lastModifiedBy>
  <cp:revision>11</cp:revision>
  <dcterms:created xsi:type="dcterms:W3CDTF">2026-07-07T05:52:03Z</dcterms:created>
  <dcterms:modified xsi:type="dcterms:W3CDTF">2026-07-08T11:24:46Z</dcterms:modified>
  <cp:category>template deck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0x010100C5C14D121F00114E8E7BD106F9B0AA9B</vt:lpwstr>
  </property>
  <property fmtid="{D5CDD505-2E9C-101B-9397-08002B2CF9AE}" pid="3" name="MediaServiceImageTags">
    <vt:lpwstr/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